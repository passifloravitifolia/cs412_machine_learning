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5775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Welcome, add-drop week. Say who you are and what today is: the big picture of ML, the vocabulary you will hear all semester, and one simple algorithm (kNN) that we will code together. No prior ML knowledge is assumed. Plan: about 25 min of slides, then about 15 min of live code, then a short recap.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Purpose of this slide: (1) wake the room up with a question anyone can answer; (2) show that hand-written rules break on messy real-world inputs, which is the whole reason ML exists; (3) plant the idea that a photo is just numbers, picked up again on the “image is a list of numbers” slide and in your lecturer’s cat vs. dog and MNIST examples. If you are short on time, skip it. Ask the room: how would you write an if/else program that says “cat” for a photo? Take two or three shouts. Every rule they suggest breaks on some photo (ears hidden, dark room, a cat in a box). Punchline: nobody can write these rules by hand, but we can show a program thousands of cat photos and let it find the pattern. That is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definition slowly, then map it onto the spam filter: task = classify emails, experience = emails users already marked as spam, performance = fraction classified correctly. Key idea: the three ingredients T, E, P show up in every ML problem. If you can name them, you have framed the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Top row is what you already know: you write the rules, the computer applies them. Bottom row flips it: we give examples with the right answers and the algorithm produces the rules. That output is called the model. Later, “training” just means running the learning algorithm; “prediction” means applying the model to new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Quick audience interaction: which of these did you use today? All of them are ML models trained on data. Mention that behind each one is one of the problem types we will name in a few minutes (spam = classification, recommendations = ranking/prediction, etc.). Do not go deep; this slide is just motivation.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Four reasons, one sentence each. (1) We cannot articulate the rules (what makes a face a face?). (2) Rules go stale; a learned model can be retrained on new data. (3) Scale: no human can inspect millions of records. (4) Personalization: one model per user or segment is only feasible when it is learned automatically. Also be honest: ML is not always the right tool. If a simple rule works, use the rule.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Supervised: every training example comes with the right answer (a teacher). That is where the syllabus starts: regression, classification, features, train/validation, overfitting. Unsupervised: no answers, the algorithm looks for structure; we will touch clustering shortly. Reinforcement: learning from rewards by interacting with an environment; just so they know the term. Your lecturer’s taxonomy also lists semi-supervised learning (a mix of labeled and unlabeled data); one sentence is enough. Say clearly: for the next weeks, supervised learning is the main character.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is the single most important picture of the day. Your lecturer writes each example as (x, y): x = the features, y = the label, and the model as a function h with prediction ŷ = h(x); the whole table is the training data. Features are the measurable inputs (area, rooms, age). The label is the answer we want to predict (price). Each row is one example, also called a sample or an observation. Supervised learning = learn a function from features to label using rows where the label is known. Mention: in the lab, data will arrive as a table like this (pandas DataFrame). Also, feature quality matters: garbage in, garbage out. Numbers are made up for illustration.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Connect back to the cat question: a computer does not see a cat, it sees numbers. A grayscale image is a grid of pixel brightness values. Flatten the grid row by row into one long list and every pixel becomes a feature. MNIST, the dataset your lecturer uses in the homeworks, has 28 x 28 = 784 pixels per image and 10 classes (digits 0 to 9). The grid on the slide is a simplified 8 x 8 drawing for illustration; dark = 0 and light = 1 (real data often uses 0 to 255). Takeaway: any data, whether images, emails or houses, can be turned into a feature vector x, and that is what ML algorithms work with.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left to right. Regression: output is a number on a continuous scale; we fit something like a line through the points. Classification: output is one of a fixed set of categories (blue circle or orange square); we learn a boundary between them. Clustering: nobody tells us the groups; the algorithm discovers them. Quick check question for the room: “predict tomorrow’s temperature” (regression), “is this tumor benign or malignant” (classification), “group news articles by topic with no labels” (clustering). Rule of thumb: look at the label column; number = regression, category = classification, no label = clustering.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Two phases, the same picture your lecturer uses. Learning (training): we give an ML algorithm labeled examples (x, y) and it produces a model. Inference (prediction or test time): we give the model a new input x it has never seen and it outputs a prediction y-hat. Highlight the vocabulary: the algorithm is the recipe, the model is the result. Under the hood most algorithms adjust the model step by step so that its errors on the training examples get smaller (that is what “learning” means); some, like kNN, just store the data. The next slide is about how we measure those errors.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Two basic scores, both “how wrong are we, on average”. Regression: mean squared error, the average of (true value − prediction) squared; squaring stops positive and negative errors from cancelling and punishes big misses. Classification: misclassification rate, the number of mistakes divided by the number of samples (accuracy is 1 minus this). Then the warning from your lecturer’s slides: if only 5% of people tested have cancer, a model that predicts “no cancer” for everybody is 95% accurate yet useless. That is why we also look at the confusion matrix (where the mistakes happen), precision and recall, which come in later lectures. Other things we can evaluate: training time, prediction time, model size.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Pause here; this is the central idea of the whole field, called generalization. A model that only works on the examples it was trained on is useless: you could just look the answers up. Everything in the next three slides (splitting data, overfitting, the sweet spot) exists to measure and protect generalization. Analogy: a student who memorizes last year’s exam answers vs. one who understands the material.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Randomly shuffle and split the rows before doing anything else. Train set: the model learns from these rows. Validation set: we use it while developing to compare models and choose settings (for kNN: the value of k). Test set: locked in a drawer; we look at it once at the very end for an honest estimate of how the model will do on new data. If you tune on the test set, it is no longer a fair exam and your final number is optimistic. Your lecturer calls the training part the “development set” and the held-out part the “validation set”; a hyperparameter (like k in kNN) is a setting we choose using the validation set. When data is small, cross-validation reuses it by rotating k folds; it is in the lecture slides, so only name it here. After choosing settings, retrain on all the training data and evaluate once on the test set. Ratios are conventions, not laws.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Same data in all three panels; only the model’s flexibility changes. Left: too simple, a nearly flat line cannot capture the hump; it is wrong on training data and on new data (underfitting, also called high bias). Middle: the curve captures the trend and ignores the random noise. Right: the zig-zag touches every training point, so training error is almost zero, but it has learned the noise, so new data will be badly predicted (overfitting, high variance). How we detect it: compare training error with validation error. Big gap = overfitting. Both high = underfitting. This is exactly why the validation set exists.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Make the model more flexible (higher polynomial degree, smaller k in kNN, deeper tree…) and training error always goes down. Validation error goes down at first, then turns around when the model starts to memorize noise. The lowest point of the orange curve is the model we want. This is the standard recipe: try several complexities, compare on validation, pick the best, then report the test score once. In the lab we will see this with kNN: k controls complexity.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Transition slide. Say: so far we talked about what ML is and how we measure it; now let’s meet one concrete algorithm. Analogy: you are new in town and need a restaurant, so you ask the people most similar to you and copy what most of them chose. kNN does exactly this with data: to label a new example, find the most similar labeled examples and let them vote. Why we start here: you can understand it without any math, and it touches every idea from today (features, labels, distance, a hyperparameter k, validation, overfitting). Next slide draws it, then we code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simplest ML algorithm: to predict for a new point, look at the k training points closest to it and let them vote. In the picture the black diamond has three nearest neighbors, two blue circles and one orange square, so we predict blue (class A). For regression, average the neighbors’ labels instead of voting. Notice there is almost no “training”: kNN just stores the training data and does the work at prediction time (a “lazy learner”). “Closest” needs a distance; usually Euclidean (straight-line) distance on the features. Do the walk-through with the picture, then ask: what changes if k = 1? What if k = 9? (Next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“Nearest” needs a number that says how different two examples are: a distance. Euclidean is the straight-line distance and is the usual default. Manhattan adds up the differences feature by feature, like walking along city blocks. Worked example: two people described by height and weight; the gaps are 5 cm and 3 kg, so Euclidean = sqrt(25 + 9) = about 5.8 and Manhattan = 8. Both say the same thing: smaller = more similar. Your lecturer’s slides also show Hamming distance (count how many categorical features differ) and edit distance for strings; one sentence is enough here. The choice of distance is one of the three big kNN decisions (value of k, distance, voting).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k is the complexity knob, connecting back to overfitting. k = 1: every training point is its own island, the decision boundary is jagged and follows the noise (your lecturer shows k=1 vs k=7 pictures). Very large k: the prediction is dominated by the overall majority class, which is too simple. We choose k on the validation set: vary k, watch the validation error, pick the best. Watch out for: (1) feature scales, just seen; (2) kNN stores all training data and compares a new point with every one of them, so predictions get slow on big datasets; (3) noisy or many features make “closeness” less meaningful (curse of dimensionality). Good to know: for regression, kNN averages the neighbors’ labels instead of voting; the vote can be weighted by distance (for example 1/d²); an odd k avoids ties with two classes. Pros: simple, intuitive, easy to implement. Term to introduce: a hyperparameter is a setting chosen by us before training (also called a meta-parameter).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of live code, then come back for the recap slide. Suggested flow (edit to your notebook): load a small dataset into a table and look at the features and label; split into train/validation/test; fit a kNN classifier; compute accuracy on train and validation; loop over k = 1, 3, 5, … and plot train vs. validation accuracy to see underfitting and overfitting live; show what happens without scaling the features; finish by scoring the chosen k on the test set once. Keep the code short and re-runnable so students can follow along. Dataset idea: MNIST digits tie in with the homeworks (flatten the 28 x 28 images into 784 features), or a small table like the house-price example.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after the live coding. Read the six points quickly and tie each to something they just saw in code. Add the one thing students most often forget: a model is only as good as its data. Biased or sloppy data gives biased or sloppy predictions, so always ask where the data came from. Then open for questions and say what comes next in the course.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4182B"/>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14182B"/>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14182B"/>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14182B"/>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2B"/>
        </a:solidFill>
        <a:effectLst/>
      </p:bgPr>
    </p:bg>
    <p:spTree>
      <p:nvGrpSpPr>
        <p:cNvPr id="1" name=""/>
        <p:cNvGrpSpPr/>
        <p:nvPr/>
      </p:nvGrpSpPr>
      <p:grpSpPr>
        <a:xfrm>
          <a:off x="0" y="0"/>
          <a:ext cx="0" cy="0"/>
          <a:chOff x="0" y="0"/>
          <a:chExt cx="0" cy="0"/>
        </a:xfrm>
      </p:grpSpPr>
      <p:pic>
        <p:nvPicPr>
          <p:cNvPr id="2" name="Image 0" descr="Two clusters of dots, blue and orange, separated by a dashed line"/>
          <p:cNvPicPr>
            <a:picLocks noChangeAspect="1"/>
          </p:cNvPicPr>
          <p:nvPr/>
        </p:nvPicPr>
        <p:blipFill>
          <a:blip r:embed="rId3"/>
          <a:srcRect/>
          <a:stretch/>
        </p:blipFill>
        <p:spPr>
          <a:xfrm>
            <a:off x="6807200" y="1150815"/>
            <a:ext cx="4572000" cy="4572000"/>
          </a:xfrm>
          <a:prstGeom prst="rect">
            <a:avLst/>
          </a:prstGeom>
        </p:spPr>
      </p:pic>
      <p:sp>
        <p:nvSpPr>
          <p:cNvPr id="4" name="Text 1"/>
          <p:cNvSpPr>
            <a:spLocks noGrp="1"/>
          </p:cNvSpPr>
          <p:nvPr>
            <p:ph type="title"/>
          </p:nvPr>
        </p:nvSpPr>
        <p:spPr>
          <a:xfrm>
            <a:off x="812800" y="2221309"/>
            <a:ext cx="5755640" cy="1518841"/>
          </a:xfrm>
          <a:prstGeom prst="rect">
            <a:avLst/>
          </a:prstGeom>
          <a:noFill/>
          <a:ln/>
        </p:spPr>
        <p:txBody>
          <a:bodyPr wrap="square" lIns="0" tIns="0" rIns="0" bIns="0" rtlCol="0" anchor="t">
            <a:normAutofit fontScale="90000"/>
          </a:bodyPr>
          <a:lstStyle/>
          <a:p>
            <a:pPr marL="0" indent="0" algn="l">
              <a:lnSpc>
                <a:spcPts val="5880"/>
              </a:lnSpc>
              <a:buNone/>
            </a:pPr>
            <a:r>
              <a:rPr lang="en-US" sz="5600" b="1" i="0" kern="0" spc="-100" dirty="0">
                <a:solidFill>
                  <a:srgbClr val="F5F2EA"/>
                </a:solidFill>
                <a:latin typeface="DM Sans" pitchFamily="34" charset="0"/>
                <a:ea typeface="DM Sans" pitchFamily="34" charset="-122"/>
                <a:cs typeface="DM Sans" pitchFamily="34" charset="-120"/>
              </a:rPr>
              <a:t>CS-412 </a:t>
            </a:r>
            <a:br>
              <a:rPr lang="en-US" sz="5600" b="1" i="0" kern="0" spc="-100" dirty="0">
                <a:solidFill>
                  <a:srgbClr val="F5F2EA"/>
                </a:solidFill>
                <a:latin typeface="DM Sans" pitchFamily="34" charset="0"/>
                <a:ea typeface="DM Sans" pitchFamily="34" charset="-122"/>
                <a:cs typeface="DM Sans" pitchFamily="34" charset="-120"/>
              </a:rPr>
            </a:br>
            <a:r>
              <a:rPr lang="en-US" sz="5600" b="1" i="0" kern="0" spc="-100" dirty="0">
                <a:solidFill>
                  <a:srgbClr val="F5F2EA"/>
                </a:solidFill>
                <a:latin typeface="DM Sans" pitchFamily="34" charset="0"/>
                <a:ea typeface="DM Sans" pitchFamily="34" charset="-122"/>
                <a:cs typeface="DM Sans" pitchFamily="34" charset="-120"/>
              </a:rPr>
              <a:t>Machine Learning</a:t>
            </a:r>
            <a:endParaRPr lang="en-US" sz="5600" dirty="0"/>
          </a:p>
        </p:txBody>
      </p:sp>
      <p:sp>
        <p:nvSpPr>
          <p:cNvPr id="6" name="Text 3"/>
          <p:cNvSpPr/>
          <p:nvPr/>
        </p:nvSpPr>
        <p:spPr>
          <a:xfrm>
            <a:off x="812800" y="5476280"/>
            <a:ext cx="108833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EE0"/>
                </a:solidFill>
                <a:latin typeface="DM Sans" pitchFamily="34" charset="0"/>
                <a:ea typeface="DM Sans" pitchFamily="34" charset="-122"/>
                <a:cs typeface="DM Sans" pitchFamily="34" charset="-120"/>
              </a:rPr>
              <a:t>[Bedirhan Kırtan - TA</a:t>
            </a:r>
            <a:endParaRPr lang="en-US" sz="1600" dirty="0"/>
          </a:p>
          <a:p>
            <a:pPr marL="0" indent="0" algn="l">
              <a:lnSpc>
                <a:spcPts val="2240"/>
              </a:lnSpc>
              <a:buNone/>
            </a:pPr>
            <a:r>
              <a:rPr lang="en-US" sz="1600" dirty="0">
                <a:solidFill>
                  <a:srgbClr val="C9CEE0"/>
                </a:solidFill>
                <a:latin typeface="DM Sans" pitchFamily="34" charset="0"/>
                <a:ea typeface="DM Sans" pitchFamily="34" charset="-122"/>
                <a:cs typeface="DM Sans" pitchFamily="34" charset="-120"/>
              </a:rPr>
              <a:t>[Ahmet Emre </a:t>
            </a:r>
            <a:r>
              <a:rPr lang="en-US" sz="1600" dirty="0" err="1">
                <a:solidFill>
                  <a:srgbClr val="C9CEE0"/>
                </a:solidFill>
                <a:latin typeface="DM Sans" pitchFamily="34" charset="0"/>
                <a:ea typeface="DM Sans" pitchFamily="34" charset="-122"/>
                <a:cs typeface="DM Sans" pitchFamily="34" charset="-120"/>
              </a:rPr>
              <a:t>Küçükatay</a:t>
            </a:r>
            <a:r>
              <a:rPr lang="en-US" sz="1600" dirty="0">
                <a:solidFill>
                  <a:srgbClr val="C9CEE0"/>
                </a:solidFill>
                <a:latin typeface="DM Sans" pitchFamily="34" charset="0"/>
                <a:ea typeface="DM Sans" pitchFamily="34" charset="-122"/>
                <a:cs typeface="DM Sans" pitchFamily="34" charset="-120"/>
              </a:rPr>
              <a:t> - TA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2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2530078"/>
            <a:ext cx="10883392" cy="1561505"/>
          </a:xfrm>
          <a:prstGeom prst="rect">
            <a:avLst/>
          </a:prstGeom>
          <a:noFill/>
          <a:ln/>
        </p:spPr>
        <p:txBody>
          <a:bodyPr wrap="square" lIns="0" tIns="0" rIns="0" bIns="0" rtlCol="0" anchor="t">
            <a:normAutofit/>
          </a:bodyPr>
          <a:lstStyle/>
          <a:p>
            <a:pPr marL="0" indent="0" algn="l">
              <a:lnSpc>
                <a:spcPts val="6048"/>
              </a:lnSpc>
              <a:buNone/>
            </a:pPr>
            <a:r>
              <a:rPr lang="en-US" sz="5600" b="1" i="0" kern="0" spc="-100" dirty="0">
                <a:solidFill>
                  <a:srgbClr val="F5F2EA"/>
                </a:solidFill>
                <a:latin typeface="DM Sans" pitchFamily="34" charset="0"/>
                <a:ea typeface="DM Sans" pitchFamily="34" charset="-122"/>
                <a:cs typeface="DM Sans" pitchFamily="34" charset="-120"/>
              </a:rPr>
              <a:t>How would you write the rules for “this is a cat”?</a:t>
            </a:r>
            <a:endParaRPr lang="en-US" sz="5600" dirty="0"/>
          </a:p>
        </p:txBody>
      </p:sp>
      <p:sp>
        <p:nvSpPr>
          <p:cNvPr id="4" name="Text 2"/>
          <p:cNvSpPr/>
          <p:nvPr/>
        </p:nvSpPr>
        <p:spPr>
          <a:xfrm>
            <a:off x="815975" y="4475758"/>
            <a:ext cx="865088"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Ears?</a:t>
            </a:r>
            <a:endParaRPr lang="en-US" sz="1600" dirty="0"/>
          </a:p>
        </p:txBody>
      </p:sp>
      <p:sp>
        <p:nvSpPr>
          <p:cNvPr id="5" name="Text 3"/>
          <p:cNvSpPr/>
          <p:nvPr/>
        </p:nvSpPr>
        <p:spPr>
          <a:xfrm>
            <a:off x="1814413" y="4475758"/>
            <a:ext cx="1314648"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Whiskers?</a:t>
            </a:r>
            <a:endParaRPr lang="en-US" sz="1600" dirty="0"/>
          </a:p>
        </p:txBody>
      </p:sp>
      <p:sp>
        <p:nvSpPr>
          <p:cNvPr id="6" name="Text 4"/>
          <p:cNvSpPr/>
          <p:nvPr/>
        </p:nvSpPr>
        <p:spPr>
          <a:xfrm>
            <a:off x="3262412" y="4475758"/>
            <a:ext cx="1300559"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Fur color?</a:t>
            </a:r>
            <a:endParaRPr lang="en-US" sz="1600" dirty="0"/>
          </a:p>
        </p:txBody>
      </p:sp>
      <p:sp>
        <p:nvSpPr>
          <p:cNvPr id="7" name="Text 5"/>
          <p:cNvSpPr/>
          <p:nvPr/>
        </p:nvSpPr>
        <p:spPr>
          <a:xfrm>
            <a:off x="4696321" y="4475758"/>
            <a:ext cx="1758156"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Camera angle?</a:t>
            </a:r>
            <a:endParaRPr lang="en-US" sz="1600" dirty="0"/>
          </a:p>
        </p:txBody>
      </p:sp>
      <p:sp>
        <p:nvSpPr>
          <p:cNvPr id="8" name="Text 6"/>
          <p:cNvSpPr/>
          <p:nvPr/>
        </p:nvSpPr>
        <p:spPr>
          <a:xfrm>
            <a:off x="6587827" y="4475758"/>
            <a:ext cx="1213048"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Lighting?</a:t>
            </a:r>
            <a:endParaRPr lang="en-US" sz="1600" dirty="0"/>
          </a:p>
        </p:txBody>
      </p:sp>
      <p:sp>
        <p:nvSpPr>
          <p:cNvPr id="9" name="Text 7"/>
          <p:cNvSpPr/>
          <p:nvPr/>
        </p:nvSpPr>
        <p:spPr>
          <a:xfrm>
            <a:off x="7934226" y="4475758"/>
            <a:ext cx="1538288"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Half hidden?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Machine learning, defined</a:t>
            </a:r>
            <a:endParaRPr lang="en-US" sz="3600" dirty="0"/>
          </a:p>
        </p:txBody>
      </p:sp>
      <p:sp>
        <p:nvSpPr>
          <p:cNvPr id="3" name="Text 1"/>
          <p:cNvSpPr/>
          <p:nvPr/>
        </p:nvSpPr>
        <p:spPr>
          <a:xfrm>
            <a:off x="812800" y="1620441"/>
            <a:ext cx="10883392" cy="40253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4A4F63"/>
                </a:solidFill>
                <a:latin typeface="DM Sans" pitchFamily="34" charset="0"/>
                <a:ea typeface="DM Sans" pitchFamily="34" charset="-122"/>
                <a:cs typeface="DM Sans" pitchFamily="34" charset="-120"/>
              </a:rPr>
              <a:t>A program </a:t>
            </a:r>
            <a:r>
              <a:rPr lang="en-US" sz="2200" b="1" dirty="0">
                <a:solidFill>
                  <a:srgbClr val="14182B"/>
                </a:solidFill>
                <a:latin typeface="DM Sans" pitchFamily="34" charset="0"/>
                <a:ea typeface="DM Sans" pitchFamily="34" charset="-122"/>
                <a:cs typeface="DM Sans" pitchFamily="34" charset="-120"/>
              </a:rPr>
              <a:t>learns</a:t>
            </a:r>
            <a:r>
              <a:rPr lang="en-US" sz="2200" dirty="0">
                <a:solidFill>
                  <a:srgbClr val="4A4F63"/>
                </a:solidFill>
                <a:latin typeface="DM Sans" pitchFamily="34" charset="0"/>
                <a:ea typeface="DM Sans" pitchFamily="34" charset="-122"/>
                <a:cs typeface="DM Sans" pitchFamily="34" charset="-120"/>
              </a:rPr>
              <a:t> if its performance on a task </a:t>
            </a:r>
            <a:r>
              <a:rPr lang="en-US" sz="2200" b="1" dirty="0">
                <a:solidFill>
                  <a:srgbClr val="14182B"/>
                </a:solidFill>
                <a:latin typeface="DM Sans" pitchFamily="34" charset="0"/>
                <a:ea typeface="DM Sans" pitchFamily="34" charset="-122"/>
                <a:cs typeface="DM Sans" pitchFamily="34" charset="-120"/>
              </a:rPr>
              <a:t>improves with experience</a:t>
            </a:r>
            <a:r>
              <a:rPr lang="en-US" sz="2200" dirty="0">
                <a:solidFill>
                  <a:srgbClr val="4A4F63"/>
                </a:solidFill>
                <a:latin typeface="DM Sans" pitchFamily="34" charset="0"/>
                <a:ea typeface="DM Sans" pitchFamily="34" charset="-122"/>
                <a:cs typeface="DM Sans" pitchFamily="34" charset="-120"/>
              </a:rPr>
              <a:t>.</a:t>
            </a:r>
            <a:endParaRPr lang="en-US" sz="2200" dirty="0"/>
          </a:p>
        </p:txBody>
      </p:sp>
      <p:sp>
        <p:nvSpPr>
          <p:cNvPr id="4" name="Text 2"/>
          <p:cNvSpPr/>
          <p:nvPr/>
        </p:nvSpPr>
        <p:spPr>
          <a:xfrm>
            <a:off x="812800" y="230237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478"/>
                </a:solidFill>
                <a:latin typeface="DM Sans" pitchFamily="34" charset="0"/>
                <a:ea typeface="DM Sans" pitchFamily="34" charset="-122"/>
                <a:cs typeface="DM Sans" pitchFamily="34" charset="-120"/>
              </a:rPr>
              <a:t>EXAMPLE: A SPAM FILTER</a:t>
            </a:r>
            <a:endParaRPr lang="en-US" sz="1200" dirty="0"/>
          </a:p>
        </p:txBody>
      </p:sp>
      <p:sp>
        <p:nvSpPr>
          <p:cNvPr id="5" name="Shape 3"/>
          <p:cNvSpPr/>
          <p:nvPr/>
        </p:nvSpPr>
        <p:spPr>
          <a:xfrm>
            <a:off x="815975" y="2645866"/>
            <a:ext cx="3380284" cy="1841401"/>
          </a:xfrm>
          <a:prstGeom prst="roundRect">
            <a:avLst>
              <a:gd name="adj" fmla="val 8104"/>
            </a:avLst>
          </a:prstGeom>
          <a:solidFill>
            <a:srgbClr val="FFFDF8"/>
          </a:solidFill>
          <a:ln w="6350">
            <a:solidFill>
              <a:srgbClr val="D9D3C2"/>
            </a:solidFill>
            <a:prstDash val="solid"/>
          </a:ln>
        </p:spPr>
        <p:txBody>
          <a:bodyPr/>
          <a:lstStyle/>
          <a:p>
            <a:endParaRPr lang="en-US"/>
          </a:p>
        </p:txBody>
      </p:sp>
      <p:sp>
        <p:nvSpPr>
          <p:cNvPr id="6" name="Text 4"/>
          <p:cNvSpPr/>
          <p:nvPr/>
        </p:nvSpPr>
        <p:spPr>
          <a:xfrm>
            <a:off x="1073150" y="2903041"/>
            <a:ext cx="295191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Task</a:t>
            </a:r>
            <a:endParaRPr lang="en-US" sz="2200" dirty="0"/>
          </a:p>
        </p:txBody>
      </p:sp>
      <p:sp>
        <p:nvSpPr>
          <p:cNvPr id="7" name="Text 5"/>
          <p:cNvSpPr/>
          <p:nvPr/>
        </p:nvSpPr>
        <p:spPr>
          <a:xfrm>
            <a:off x="1073150" y="3300512"/>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What we want done</a:t>
            </a:r>
            <a:endParaRPr lang="en-US" sz="1600" dirty="0"/>
          </a:p>
        </p:txBody>
      </p:sp>
      <p:sp>
        <p:nvSpPr>
          <p:cNvPr id="8" name="Text 6"/>
          <p:cNvSpPr/>
          <p:nvPr/>
        </p:nvSpPr>
        <p:spPr>
          <a:xfrm>
            <a:off x="1073150" y="3661172"/>
            <a:ext cx="295191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BEA"/>
                </a:solidFill>
                <a:latin typeface="DM Sans" pitchFamily="34" charset="0"/>
                <a:ea typeface="DM Sans" pitchFamily="34" charset="-122"/>
                <a:cs typeface="DM Sans" pitchFamily="34" charset="-120"/>
              </a:rPr>
              <a:t>“Spam or not?”</a:t>
            </a:r>
            <a:endParaRPr lang="en-US" sz="1600" dirty="0"/>
          </a:p>
        </p:txBody>
      </p:sp>
      <p:sp>
        <p:nvSpPr>
          <p:cNvPr id="9" name="Shape 7"/>
          <p:cNvSpPr/>
          <p:nvPr/>
        </p:nvSpPr>
        <p:spPr>
          <a:xfrm>
            <a:off x="4405809" y="2645866"/>
            <a:ext cx="3380383" cy="1841401"/>
          </a:xfrm>
          <a:prstGeom prst="roundRect">
            <a:avLst>
              <a:gd name="adj" fmla="val 8104"/>
            </a:avLst>
          </a:prstGeom>
          <a:solidFill>
            <a:srgbClr val="FFFDF8"/>
          </a:solidFill>
          <a:ln w="6350">
            <a:solidFill>
              <a:srgbClr val="D9D3C2"/>
            </a:solidFill>
            <a:prstDash val="solid"/>
          </a:ln>
        </p:spPr>
        <p:txBody>
          <a:bodyPr/>
          <a:lstStyle/>
          <a:p>
            <a:endParaRPr lang="en-US"/>
          </a:p>
        </p:txBody>
      </p:sp>
      <p:sp>
        <p:nvSpPr>
          <p:cNvPr id="10" name="Text 8"/>
          <p:cNvSpPr/>
          <p:nvPr/>
        </p:nvSpPr>
        <p:spPr>
          <a:xfrm>
            <a:off x="4662984" y="2903041"/>
            <a:ext cx="2952014"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Experience</a:t>
            </a:r>
            <a:endParaRPr lang="en-US" sz="2200" dirty="0"/>
          </a:p>
        </p:txBody>
      </p:sp>
      <p:sp>
        <p:nvSpPr>
          <p:cNvPr id="11" name="Text 9"/>
          <p:cNvSpPr/>
          <p:nvPr/>
        </p:nvSpPr>
        <p:spPr>
          <a:xfrm>
            <a:off x="4662984" y="3300512"/>
            <a:ext cx="295201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The data it learns from</a:t>
            </a:r>
            <a:endParaRPr lang="en-US" sz="1600" dirty="0"/>
          </a:p>
        </p:txBody>
      </p:sp>
      <p:sp>
        <p:nvSpPr>
          <p:cNvPr id="12" name="Text 10"/>
          <p:cNvSpPr/>
          <p:nvPr/>
        </p:nvSpPr>
        <p:spPr>
          <a:xfrm>
            <a:off x="4662984" y="3661172"/>
            <a:ext cx="2952014"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BEA"/>
                </a:solidFill>
                <a:latin typeface="DM Sans" pitchFamily="34" charset="0"/>
                <a:ea typeface="DM Sans" pitchFamily="34" charset="-122"/>
                <a:cs typeface="DM Sans" pitchFamily="34" charset="-120"/>
              </a:rPr>
              <a:t>Emails people already labeled</a:t>
            </a:r>
            <a:endParaRPr lang="en-US" sz="1600" dirty="0"/>
          </a:p>
        </p:txBody>
      </p:sp>
      <p:sp>
        <p:nvSpPr>
          <p:cNvPr id="13" name="Shape 11"/>
          <p:cNvSpPr/>
          <p:nvPr/>
        </p:nvSpPr>
        <p:spPr>
          <a:xfrm>
            <a:off x="7995741" y="2645866"/>
            <a:ext cx="3380284" cy="1841401"/>
          </a:xfrm>
          <a:prstGeom prst="roundRect">
            <a:avLst>
              <a:gd name="adj" fmla="val 8104"/>
            </a:avLst>
          </a:prstGeom>
          <a:solidFill>
            <a:srgbClr val="FFFDF8"/>
          </a:solidFill>
          <a:ln w="6350">
            <a:solidFill>
              <a:srgbClr val="D9D3C2"/>
            </a:solidFill>
            <a:prstDash val="solid"/>
          </a:ln>
        </p:spPr>
        <p:txBody>
          <a:bodyPr/>
          <a:lstStyle/>
          <a:p>
            <a:endParaRPr lang="en-US"/>
          </a:p>
        </p:txBody>
      </p:sp>
      <p:sp>
        <p:nvSpPr>
          <p:cNvPr id="14" name="Text 12"/>
          <p:cNvSpPr/>
          <p:nvPr/>
        </p:nvSpPr>
        <p:spPr>
          <a:xfrm>
            <a:off x="8252916" y="2903041"/>
            <a:ext cx="295191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Performance</a:t>
            </a:r>
            <a:endParaRPr lang="en-US" sz="2200" dirty="0"/>
          </a:p>
        </p:txBody>
      </p:sp>
      <p:sp>
        <p:nvSpPr>
          <p:cNvPr id="15" name="Text 13"/>
          <p:cNvSpPr/>
          <p:nvPr/>
        </p:nvSpPr>
        <p:spPr>
          <a:xfrm>
            <a:off x="8252916" y="3300512"/>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How we score it</a:t>
            </a:r>
            <a:endParaRPr lang="en-US" sz="1600" dirty="0"/>
          </a:p>
        </p:txBody>
      </p:sp>
      <p:sp>
        <p:nvSpPr>
          <p:cNvPr id="16" name="Text 14"/>
          <p:cNvSpPr/>
          <p:nvPr/>
        </p:nvSpPr>
        <p:spPr>
          <a:xfrm>
            <a:off x="8252916" y="3661172"/>
            <a:ext cx="3119934"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F5BEA"/>
                </a:solidFill>
                <a:latin typeface="DM Sans" pitchFamily="34" charset="0"/>
                <a:ea typeface="DM Sans" pitchFamily="34" charset="-122"/>
                <a:cs typeface="DM Sans" pitchFamily="34" charset="-120"/>
              </a:rPr>
              <a:t>% of emails sorted correctly</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Definition after T. Mitchell, Machine Learning (1997)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Programming vs. machine learning</a:t>
            </a:r>
            <a:endParaRPr lang="en-US" sz="3600" dirty="0"/>
          </a:p>
        </p:txBody>
      </p:sp>
      <p:sp>
        <p:nvSpPr>
          <p:cNvPr id="3" name="Shape 1"/>
          <p:cNvSpPr/>
          <p:nvPr/>
        </p:nvSpPr>
        <p:spPr>
          <a:xfrm>
            <a:off x="815975" y="1623616"/>
            <a:ext cx="10560050" cy="1379141"/>
          </a:xfrm>
          <a:prstGeom prst="roundRect">
            <a:avLst>
              <a:gd name="adj" fmla="val 10820"/>
            </a:avLst>
          </a:prstGeom>
          <a:solidFill>
            <a:srgbClr val="FFFDF8"/>
          </a:solidFill>
          <a:ln w="6350">
            <a:solidFill>
              <a:srgbClr val="D9D3C2"/>
            </a:solidFill>
            <a:prstDash val="solid"/>
          </a:ln>
        </p:spPr>
        <p:txBody>
          <a:bodyPr/>
          <a:lstStyle/>
          <a:p>
            <a:endParaRPr lang="en-US"/>
          </a:p>
        </p:txBody>
      </p:sp>
      <p:sp>
        <p:nvSpPr>
          <p:cNvPr id="4" name="Text 2"/>
          <p:cNvSpPr/>
          <p:nvPr/>
        </p:nvSpPr>
        <p:spPr>
          <a:xfrm>
            <a:off x="1022350" y="1829991"/>
            <a:ext cx="1045171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478"/>
                </a:solidFill>
                <a:latin typeface="DM Sans" pitchFamily="34" charset="0"/>
                <a:ea typeface="DM Sans" pitchFamily="34" charset="-122"/>
                <a:cs typeface="DM Sans" pitchFamily="34" charset="-120"/>
              </a:rPr>
              <a:t>CLASSICAL PROGRAMMING · A HUMAN WRITES THE RULES</a:t>
            </a:r>
            <a:endParaRPr lang="en-US" sz="1200" dirty="0"/>
          </a:p>
        </p:txBody>
      </p:sp>
      <p:sp>
        <p:nvSpPr>
          <p:cNvPr id="5" name="Text 3"/>
          <p:cNvSpPr/>
          <p:nvPr/>
        </p:nvSpPr>
        <p:spPr>
          <a:xfrm>
            <a:off x="1022350" y="2170311"/>
            <a:ext cx="2908300" cy="626070"/>
          </a:xfrm>
          <a:prstGeom prst="roundRect">
            <a:avLst>
              <a:gd name="adj" fmla="val 16228"/>
            </a:avLst>
          </a:prstGeom>
          <a:solidFill>
            <a:srgbClr val="ECE6D6"/>
          </a:solidFill>
          <a:ln/>
        </p:spPr>
        <p:txBody>
          <a:bodyPr wrap="square" lIns="109752" tIns="122642" rIns="109752" bIns="97242" rtlCol="0" anchor="t">
            <a:normAutofit/>
          </a:bodyPr>
          <a:lstStyle/>
          <a:p>
            <a:pPr marL="0" indent="0" algn="ctr">
              <a:lnSpc>
                <a:spcPts val="2530"/>
              </a:lnSpc>
              <a:buNone/>
            </a:pPr>
            <a:r>
              <a:rPr lang="en-US" sz="2200" b="1" dirty="0">
                <a:solidFill>
                  <a:srgbClr val="14182B"/>
                </a:solidFill>
                <a:latin typeface="DM Sans" pitchFamily="34" charset="0"/>
                <a:ea typeface="DM Sans" pitchFamily="34" charset="-122"/>
                <a:cs typeface="DM Sans" pitchFamily="34" charset="-120"/>
              </a:rPr>
              <a:t>Rules + Data</a:t>
            </a:r>
            <a:endParaRPr lang="en-US" sz="2200" dirty="0"/>
          </a:p>
        </p:txBody>
      </p:sp>
      <p:pic>
        <p:nvPicPr>
          <p:cNvPr id="6" name="Image 0" descr="arrow-right"/>
          <p:cNvPicPr>
            <a:picLocks noChangeAspect="1"/>
          </p:cNvPicPr>
          <p:nvPr/>
        </p:nvPicPr>
        <p:blipFill>
          <a:blip r:embed="rId3"/>
          <a:srcRect/>
          <a:stretch/>
        </p:blipFill>
        <p:spPr>
          <a:xfrm>
            <a:off x="4083050" y="2369046"/>
            <a:ext cx="406400" cy="228600"/>
          </a:xfrm>
          <a:prstGeom prst="rect">
            <a:avLst/>
          </a:prstGeom>
        </p:spPr>
      </p:pic>
      <p:sp>
        <p:nvSpPr>
          <p:cNvPr id="7" name="Text 4"/>
          <p:cNvSpPr/>
          <p:nvPr/>
        </p:nvSpPr>
        <p:spPr>
          <a:xfrm>
            <a:off x="4641850" y="2170311"/>
            <a:ext cx="2908300" cy="626070"/>
          </a:xfrm>
          <a:prstGeom prst="roundRect">
            <a:avLst>
              <a:gd name="adj" fmla="val 16228"/>
            </a:avLst>
          </a:prstGeom>
          <a:solidFill>
            <a:srgbClr val="14182B"/>
          </a:solidFill>
          <a:ln/>
        </p:spPr>
        <p:txBody>
          <a:bodyPr wrap="square" lIns="109752" tIns="122642" rIns="109752" bIns="97242" rtlCol="0" anchor="t">
            <a:normAutofit/>
          </a:bodyPr>
          <a:lstStyle/>
          <a:p>
            <a:pPr marL="0" indent="0" algn="ctr">
              <a:lnSpc>
                <a:spcPts val="2530"/>
              </a:lnSpc>
              <a:buNone/>
            </a:pPr>
            <a:r>
              <a:rPr lang="en-US" sz="2200" b="1" dirty="0">
                <a:solidFill>
                  <a:srgbClr val="F5F2EA"/>
                </a:solidFill>
                <a:latin typeface="DM Sans" pitchFamily="34" charset="0"/>
                <a:ea typeface="DM Sans" pitchFamily="34" charset="-122"/>
                <a:cs typeface="DM Sans" pitchFamily="34" charset="-120"/>
              </a:rPr>
              <a:t>Program</a:t>
            </a:r>
            <a:endParaRPr lang="en-US" sz="2200" dirty="0"/>
          </a:p>
        </p:txBody>
      </p:sp>
      <p:pic>
        <p:nvPicPr>
          <p:cNvPr id="8" name="Image 1" descr="arrow-right"/>
          <p:cNvPicPr>
            <a:picLocks noChangeAspect="1"/>
          </p:cNvPicPr>
          <p:nvPr/>
        </p:nvPicPr>
        <p:blipFill>
          <a:blip r:embed="rId3"/>
          <a:srcRect/>
          <a:stretch/>
        </p:blipFill>
        <p:spPr>
          <a:xfrm>
            <a:off x="7702550" y="2369046"/>
            <a:ext cx="406400" cy="228600"/>
          </a:xfrm>
          <a:prstGeom prst="rect">
            <a:avLst/>
          </a:prstGeom>
        </p:spPr>
      </p:pic>
      <p:sp>
        <p:nvSpPr>
          <p:cNvPr id="9" name="Text 5"/>
          <p:cNvSpPr/>
          <p:nvPr/>
        </p:nvSpPr>
        <p:spPr>
          <a:xfrm>
            <a:off x="8261350" y="2170311"/>
            <a:ext cx="2908300" cy="626070"/>
          </a:xfrm>
          <a:prstGeom prst="roundRect">
            <a:avLst>
              <a:gd name="adj" fmla="val 16228"/>
            </a:avLst>
          </a:prstGeom>
          <a:solidFill>
            <a:srgbClr val="ECE6D6"/>
          </a:solidFill>
          <a:ln/>
        </p:spPr>
        <p:txBody>
          <a:bodyPr wrap="square" lIns="109752" tIns="122642" rIns="109752" bIns="97242" rtlCol="0" anchor="t">
            <a:normAutofit/>
          </a:bodyPr>
          <a:lstStyle/>
          <a:p>
            <a:pPr marL="0" indent="0" algn="ctr">
              <a:lnSpc>
                <a:spcPts val="2530"/>
              </a:lnSpc>
              <a:buNone/>
            </a:pPr>
            <a:r>
              <a:rPr lang="en-US" sz="2200" b="1" dirty="0">
                <a:solidFill>
                  <a:srgbClr val="14182B"/>
                </a:solidFill>
                <a:latin typeface="DM Sans" pitchFamily="34" charset="0"/>
                <a:ea typeface="DM Sans" pitchFamily="34" charset="-122"/>
                <a:cs typeface="DM Sans" pitchFamily="34" charset="-120"/>
              </a:rPr>
              <a:t>Answers</a:t>
            </a:r>
            <a:endParaRPr lang="en-US" sz="2200" dirty="0"/>
          </a:p>
        </p:txBody>
      </p:sp>
      <p:sp>
        <p:nvSpPr>
          <p:cNvPr id="10" name="Shape 6"/>
          <p:cNvSpPr/>
          <p:nvPr/>
        </p:nvSpPr>
        <p:spPr>
          <a:xfrm>
            <a:off x="815975" y="3212306"/>
            <a:ext cx="10560050" cy="1379141"/>
          </a:xfrm>
          <a:prstGeom prst="roundRect">
            <a:avLst>
              <a:gd name="adj" fmla="val 10820"/>
            </a:avLst>
          </a:prstGeom>
          <a:solidFill>
            <a:srgbClr val="FFFDF8"/>
          </a:solidFill>
          <a:ln w="6350">
            <a:solidFill>
              <a:srgbClr val="D9D3C2"/>
            </a:solidFill>
            <a:prstDash val="solid"/>
          </a:ln>
        </p:spPr>
        <p:txBody>
          <a:bodyPr/>
          <a:lstStyle/>
          <a:p>
            <a:endParaRPr lang="en-US"/>
          </a:p>
        </p:txBody>
      </p:sp>
      <p:sp>
        <p:nvSpPr>
          <p:cNvPr id="11" name="Text 7"/>
          <p:cNvSpPr/>
          <p:nvPr/>
        </p:nvSpPr>
        <p:spPr>
          <a:xfrm>
            <a:off x="1022350" y="3418681"/>
            <a:ext cx="10451719"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MACHINE LEARNING · THE RULES COME OUT OF THE DATA</a:t>
            </a:r>
            <a:endParaRPr lang="en-US" sz="1200" dirty="0"/>
          </a:p>
        </p:txBody>
      </p:sp>
      <p:sp>
        <p:nvSpPr>
          <p:cNvPr id="12" name="Text 8"/>
          <p:cNvSpPr/>
          <p:nvPr/>
        </p:nvSpPr>
        <p:spPr>
          <a:xfrm>
            <a:off x="1022350" y="3759002"/>
            <a:ext cx="2908300" cy="626070"/>
          </a:xfrm>
          <a:prstGeom prst="roundRect">
            <a:avLst>
              <a:gd name="adj" fmla="val 16228"/>
            </a:avLst>
          </a:prstGeom>
          <a:solidFill>
            <a:srgbClr val="ECE6D6"/>
          </a:solidFill>
          <a:ln/>
        </p:spPr>
        <p:txBody>
          <a:bodyPr wrap="square" lIns="109752" tIns="122642" rIns="109752" bIns="97242" rtlCol="0" anchor="t">
            <a:normAutofit/>
          </a:bodyPr>
          <a:lstStyle/>
          <a:p>
            <a:pPr marL="0" indent="0" algn="ctr">
              <a:lnSpc>
                <a:spcPts val="2530"/>
              </a:lnSpc>
              <a:buNone/>
            </a:pPr>
            <a:r>
              <a:rPr lang="en-US" sz="2200" b="1" dirty="0">
                <a:solidFill>
                  <a:srgbClr val="14182B"/>
                </a:solidFill>
                <a:latin typeface="DM Sans" pitchFamily="34" charset="0"/>
                <a:ea typeface="DM Sans" pitchFamily="34" charset="-122"/>
                <a:cs typeface="DM Sans" pitchFamily="34" charset="-120"/>
              </a:rPr>
              <a:t>Data + Answers</a:t>
            </a:r>
            <a:endParaRPr lang="en-US" sz="2200" dirty="0"/>
          </a:p>
        </p:txBody>
      </p:sp>
      <p:pic>
        <p:nvPicPr>
          <p:cNvPr id="13" name="Image 2" descr="arrow-right"/>
          <p:cNvPicPr>
            <a:picLocks noChangeAspect="1"/>
          </p:cNvPicPr>
          <p:nvPr/>
        </p:nvPicPr>
        <p:blipFill>
          <a:blip r:embed="rId3"/>
          <a:srcRect/>
          <a:stretch/>
        </p:blipFill>
        <p:spPr>
          <a:xfrm>
            <a:off x="4083050" y="3957737"/>
            <a:ext cx="406400" cy="228600"/>
          </a:xfrm>
          <a:prstGeom prst="rect">
            <a:avLst/>
          </a:prstGeom>
        </p:spPr>
      </p:pic>
      <p:sp>
        <p:nvSpPr>
          <p:cNvPr id="14" name="Text 9"/>
          <p:cNvSpPr/>
          <p:nvPr/>
        </p:nvSpPr>
        <p:spPr>
          <a:xfrm>
            <a:off x="4641850" y="3759002"/>
            <a:ext cx="2908300" cy="626070"/>
          </a:xfrm>
          <a:prstGeom prst="roundRect">
            <a:avLst>
              <a:gd name="adj" fmla="val 16228"/>
            </a:avLst>
          </a:prstGeom>
          <a:solidFill>
            <a:srgbClr val="14182B"/>
          </a:solidFill>
          <a:ln/>
        </p:spPr>
        <p:txBody>
          <a:bodyPr wrap="square" lIns="109752" tIns="122642" rIns="109752" bIns="97242" rtlCol="0" anchor="t">
            <a:normAutofit/>
          </a:bodyPr>
          <a:lstStyle/>
          <a:p>
            <a:pPr marL="0" indent="0" algn="ctr">
              <a:lnSpc>
                <a:spcPts val="2530"/>
              </a:lnSpc>
              <a:buNone/>
            </a:pPr>
            <a:r>
              <a:rPr lang="en-US" sz="2200" b="1" dirty="0">
                <a:solidFill>
                  <a:srgbClr val="F5F2EA"/>
                </a:solidFill>
                <a:latin typeface="DM Sans" pitchFamily="34" charset="0"/>
                <a:ea typeface="DM Sans" pitchFamily="34" charset="-122"/>
                <a:cs typeface="DM Sans" pitchFamily="34" charset="-120"/>
              </a:rPr>
              <a:t>ML algorithm</a:t>
            </a:r>
            <a:endParaRPr lang="en-US" sz="2200" dirty="0"/>
          </a:p>
        </p:txBody>
      </p:sp>
      <p:pic>
        <p:nvPicPr>
          <p:cNvPr id="15" name="Image 3" descr="arrow-right"/>
          <p:cNvPicPr>
            <a:picLocks noChangeAspect="1"/>
          </p:cNvPicPr>
          <p:nvPr/>
        </p:nvPicPr>
        <p:blipFill>
          <a:blip r:embed="rId3"/>
          <a:srcRect/>
          <a:stretch/>
        </p:blipFill>
        <p:spPr>
          <a:xfrm>
            <a:off x="7702550" y="3957737"/>
            <a:ext cx="406400" cy="228600"/>
          </a:xfrm>
          <a:prstGeom prst="rect">
            <a:avLst/>
          </a:prstGeom>
        </p:spPr>
      </p:pic>
      <p:sp>
        <p:nvSpPr>
          <p:cNvPr id="16" name="Text 10"/>
          <p:cNvSpPr/>
          <p:nvPr/>
        </p:nvSpPr>
        <p:spPr>
          <a:xfrm>
            <a:off x="8261350" y="3759002"/>
            <a:ext cx="2908300" cy="626070"/>
          </a:xfrm>
          <a:prstGeom prst="roundRect">
            <a:avLst>
              <a:gd name="adj" fmla="val 16228"/>
            </a:avLst>
          </a:prstGeom>
          <a:solidFill>
            <a:srgbClr val="C2410C"/>
          </a:solidFill>
          <a:ln/>
        </p:spPr>
        <p:txBody>
          <a:bodyPr wrap="square" lIns="109752" tIns="122642" rIns="109752" bIns="97242" rtlCol="0" anchor="t">
            <a:normAutofit/>
          </a:bodyPr>
          <a:lstStyle/>
          <a:p>
            <a:pPr marL="0" indent="0" algn="ctr">
              <a:lnSpc>
                <a:spcPts val="2530"/>
              </a:lnSpc>
              <a:buNone/>
            </a:pPr>
            <a:r>
              <a:rPr lang="en-US" sz="2200" b="1" dirty="0">
                <a:solidFill>
                  <a:srgbClr val="F5F2EA"/>
                </a:solidFill>
                <a:latin typeface="DM Sans" pitchFamily="34" charset="0"/>
                <a:ea typeface="DM Sans" pitchFamily="34" charset="-122"/>
                <a:cs typeface="DM Sans" pitchFamily="34" charset="-120"/>
              </a:rPr>
              <a:t>Rules (Model)</a:t>
            </a:r>
            <a:endParaRPr lang="en-US" sz="2200" dirty="0"/>
          </a:p>
        </p:txBody>
      </p:sp>
      <p:sp>
        <p:nvSpPr>
          <p:cNvPr id="17"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Intro to Machine Learning · Weeks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ML you already use</a:t>
            </a:r>
            <a:endParaRPr lang="en-US" sz="3600" dirty="0"/>
          </a:p>
        </p:txBody>
      </p:sp>
      <p:sp>
        <p:nvSpPr>
          <p:cNvPr id="3" name="Shape 1"/>
          <p:cNvSpPr/>
          <p:nvPr/>
        </p:nvSpPr>
        <p:spPr>
          <a:xfrm>
            <a:off x="815975" y="1623616"/>
            <a:ext cx="3380284" cy="1628080"/>
          </a:xfrm>
          <a:prstGeom prst="roundRect">
            <a:avLst>
              <a:gd name="adj" fmla="val 9166"/>
            </a:avLst>
          </a:prstGeom>
          <a:solidFill>
            <a:srgbClr val="FFFDF8"/>
          </a:solidFill>
          <a:ln w="6350">
            <a:solidFill>
              <a:srgbClr val="D9D3C2"/>
            </a:solidFill>
            <a:prstDash val="solid"/>
          </a:ln>
        </p:spPr>
        <p:txBody>
          <a:bodyPr/>
          <a:lstStyle/>
          <a:p>
            <a:endParaRPr lang="en-US"/>
          </a:p>
        </p:txBody>
      </p:sp>
      <p:pic>
        <p:nvPicPr>
          <p:cNvPr id="4" name="Image 0" descr="PaperPlane"/>
          <p:cNvPicPr>
            <a:picLocks noChangeAspect="1"/>
          </p:cNvPicPr>
          <p:nvPr/>
        </p:nvPicPr>
        <p:blipFill>
          <a:blip r:embed="rId3"/>
          <a:srcRect/>
          <a:stretch/>
        </p:blipFill>
        <p:spPr>
          <a:xfrm>
            <a:off x="1073150" y="1880791"/>
            <a:ext cx="355600" cy="355600"/>
          </a:xfrm>
          <a:prstGeom prst="rect">
            <a:avLst/>
          </a:prstGeom>
        </p:spPr>
      </p:pic>
      <p:sp>
        <p:nvSpPr>
          <p:cNvPr id="5" name="Text 2"/>
          <p:cNvSpPr/>
          <p:nvPr/>
        </p:nvSpPr>
        <p:spPr>
          <a:xfrm>
            <a:off x="1073150" y="2312591"/>
            <a:ext cx="295191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Spam filter</a:t>
            </a:r>
            <a:endParaRPr lang="en-US" sz="2200" dirty="0"/>
          </a:p>
        </p:txBody>
      </p:sp>
      <p:sp>
        <p:nvSpPr>
          <p:cNvPr id="6" name="Text 3"/>
          <p:cNvSpPr/>
          <p:nvPr/>
        </p:nvSpPr>
        <p:spPr>
          <a:xfrm>
            <a:off x="1073150" y="2710061"/>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Spam or not?</a:t>
            </a:r>
            <a:endParaRPr lang="en-US" sz="1600" dirty="0"/>
          </a:p>
        </p:txBody>
      </p:sp>
      <p:sp>
        <p:nvSpPr>
          <p:cNvPr id="7" name="Shape 4"/>
          <p:cNvSpPr/>
          <p:nvPr/>
        </p:nvSpPr>
        <p:spPr>
          <a:xfrm>
            <a:off x="4405809" y="1623616"/>
            <a:ext cx="3380284" cy="1628080"/>
          </a:xfrm>
          <a:prstGeom prst="roundRect">
            <a:avLst>
              <a:gd name="adj" fmla="val 9166"/>
            </a:avLst>
          </a:prstGeom>
          <a:solidFill>
            <a:srgbClr val="FFFDF8"/>
          </a:solidFill>
          <a:ln w="6350">
            <a:solidFill>
              <a:srgbClr val="D9D3C2"/>
            </a:solidFill>
            <a:prstDash val="solid"/>
          </a:ln>
        </p:spPr>
        <p:txBody>
          <a:bodyPr/>
          <a:lstStyle/>
          <a:p>
            <a:endParaRPr lang="en-US"/>
          </a:p>
        </p:txBody>
      </p:sp>
      <p:pic>
        <p:nvPicPr>
          <p:cNvPr id="8" name="Image 1" descr="ThumbsUp"/>
          <p:cNvPicPr>
            <a:picLocks noChangeAspect="1"/>
          </p:cNvPicPr>
          <p:nvPr/>
        </p:nvPicPr>
        <p:blipFill>
          <a:blip r:embed="rId4"/>
          <a:srcRect/>
          <a:stretch/>
        </p:blipFill>
        <p:spPr>
          <a:xfrm>
            <a:off x="4662984" y="1880791"/>
            <a:ext cx="355600" cy="355600"/>
          </a:xfrm>
          <a:prstGeom prst="rect">
            <a:avLst/>
          </a:prstGeom>
        </p:spPr>
      </p:pic>
      <p:sp>
        <p:nvSpPr>
          <p:cNvPr id="9" name="Text 5"/>
          <p:cNvSpPr/>
          <p:nvPr/>
        </p:nvSpPr>
        <p:spPr>
          <a:xfrm>
            <a:off x="4662984" y="2312591"/>
            <a:ext cx="295191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Recommendations</a:t>
            </a:r>
            <a:endParaRPr lang="en-US" sz="2200" dirty="0"/>
          </a:p>
        </p:txBody>
      </p:sp>
      <p:sp>
        <p:nvSpPr>
          <p:cNvPr id="10" name="Text 6"/>
          <p:cNvSpPr/>
          <p:nvPr/>
        </p:nvSpPr>
        <p:spPr>
          <a:xfrm>
            <a:off x="4662984" y="2710061"/>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What to watch next?</a:t>
            </a:r>
            <a:endParaRPr lang="en-US" sz="1600" dirty="0"/>
          </a:p>
        </p:txBody>
      </p:sp>
      <p:sp>
        <p:nvSpPr>
          <p:cNvPr id="11" name="Shape 7"/>
          <p:cNvSpPr/>
          <p:nvPr/>
        </p:nvSpPr>
        <p:spPr>
          <a:xfrm>
            <a:off x="7995642" y="1623616"/>
            <a:ext cx="3380284" cy="1628080"/>
          </a:xfrm>
          <a:prstGeom prst="roundRect">
            <a:avLst>
              <a:gd name="adj" fmla="val 9166"/>
            </a:avLst>
          </a:prstGeom>
          <a:solidFill>
            <a:srgbClr val="FFFDF8"/>
          </a:solidFill>
          <a:ln w="6350">
            <a:solidFill>
              <a:srgbClr val="D9D3C2"/>
            </a:solidFill>
            <a:prstDash val="solid"/>
          </a:ln>
        </p:spPr>
        <p:txBody>
          <a:bodyPr/>
          <a:lstStyle/>
          <a:p>
            <a:endParaRPr lang="en-US"/>
          </a:p>
        </p:txBody>
      </p:sp>
      <p:pic>
        <p:nvPicPr>
          <p:cNvPr id="12" name="Image 2" descr="Globe"/>
          <p:cNvPicPr>
            <a:picLocks noChangeAspect="1"/>
          </p:cNvPicPr>
          <p:nvPr/>
        </p:nvPicPr>
        <p:blipFill>
          <a:blip r:embed="rId5"/>
          <a:srcRect/>
          <a:stretch/>
        </p:blipFill>
        <p:spPr>
          <a:xfrm>
            <a:off x="8252817" y="1880791"/>
            <a:ext cx="355600" cy="355600"/>
          </a:xfrm>
          <a:prstGeom prst="rect">
            <a:avLst/>
          </a:prstGeom>
        </p:spPr>
      </p:pic>
      <p:sp>
        <p:nvSpPr>
          <p:cNvPr id="13" name="Text 8"/>
          <p:cNvSpPr/>
          <p:nvPr/>
        </p:nvSpPr>
        <p:spPr>
          <a:xfrm>
            <a:off x="8252817" y="2312591"/>
            <a:ext cx="295191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Translation</a:t>
            </a:r>
            <a:endParaRPr lang="en-US" sz="2200" dirty="0"/>
          </a:p>
        </p:txBody>
      </p:sp>
      <p:sp>
        <p:nvSpPr>
          <p:cNvPr id="14" name="Text 9"/>
          <p:cNvSpPr/>
          <p:nvPr/>
        </p:nvSpPr>
        <p:spPr>
          <a:xfrm>
            <a:off x="8252817" y="2710061"/>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Text in, text out</a:t>
            </a:r>
            <a:endParaRPr lang="en-US" sz="1600" dirty="0"/>
          </a:p>
        </p:txBody>
      </p:sp>
      <p:sp>
        <p:nvSpPr>
          <p:cNvPr id="15" name="Shape 10"/>
          <p:cNvSpPr/>
          <p:nvPr/>
        </p:nvSpPr>
        <p:spPr>
          <a:xfrm>
            <a:off x="815975" y="3461246"/>
            <a:ext cx="3380284" cy="1628080"/>
          </a:xfrm>
          <a:prstGeom prst="roundRect">
            <a:avLst>
              <a:gd name="adj" fmla="val 9166"/>
            </a:avLst>
          </a:prstGeom>
          <a:solidFill>
            <a:srgbClr val="FFFDF8"/>
          </a:solidFill>
          <a:ln w="6350">
            <a:solidFill>
              <a:srgbClr val="D9D3C2"/>
            </a:solidFill>
            <a:prstDash val="solid"/>
          </a:ln>
        </p:spPr>
        <p:txBody>
          <a:bodyPr/>
          <a:lstStyle/>
          <a:p>
            <a:endParaRPr lang="en-US"/>
          </a:p>
        </p:txBody>
      </p:sp>
      <p:pic>
        <p:nvPicPr>
          <p:cNvPr id="16" name="Image 3" descr="Lock"/>
          <p:cNvPicPr>
            <a:picLocks noChangeAspect="1"/>
          </p:cNvPicPr>
          <p:nvPr/>
        </p:nvPicPr>
        <p:blipFill>
          <a:blip r:embed="rId6"/>
          <a:srcRect/>
          <a:stretch/>
        </p:blipFill>
        <p:spPr>
          <a:xfrm>
            <a:off x="1073150" y="3718421"/>
            <a:ext cx="355600" cy="355600"/>
          </a:xfrm>
          <a:prstGeom prst="rect">
            <a:avLst/>
          </a:prstGeom>
        </p:spPr>
      </p:pic>
      <p:sp>
        <p:nvSpPr>
          <p:cNvPr id="17" name="Text 11"/>
          <p:cNvSpPr/>
          <p:nvPr/>
        </p:nvSpPr>
        <p:spPr>
          <a:xfrm>
            <a:off x="1073150" y="4150221"/>
            <a:ext cx="295191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Face unlock</a:t>
            </a:r>
            <a:endParaRPr lang="en-US" sz="2200" dirty="0"/>
          </a:p>
        </p:txBody>
      </p:sp>
      <p:sp>
        <p:nvSpPr>
          <p:cNvPr id="18" name="Text 12"/>
          <p:cNvSpPr/>
          <p:nvPr/>
        </p:nvSpPr>
        <p:spPr>
          <a:xfrm>
            <a:off x="1073150" y="4547691"/>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Is this you?</a:t>
            </a:r>
            <a:endParaRPr lang="en-US" sz="1600" dirty="0"/>
          </a:p>
        </p:txBody>
      </p:sp>
      <p:sp>
        <p:nvSpPr>
          <p:cNvPr id="19" name="Shape 13"/>
          <p:cNvSpPr/>
          <p:nvPr/>
        </p:nvSpPr>
        <p:spPr>
          <a:xfrm>
            <a:off x="4405809" y="3461246"/>
            <a:ext cx="3380284" cy="1628080"/>
          </a:xfrm>
          <a:prstGeom prst="roundRect">
            <a:avLst>
              <a:gd name="adj" fmla="val 9166"/>
            </a:avLst>
          </a:prstGeom>
          <a:solidFill>
            <a:srgbClr val="FFFDF8"/>
          </a:solidFill>
          <a:ln w="6350">
            <a:solidFill>
              <a:srgbClr val="D9D3C2"/>
            </a:solidFill>
            <a:prstDash val="solid"/>
          </a:ln>
        </p:spPr>
        <p:txBody>
          <a:bodyPr/>
          <a:lstStyle/>
          <a:p>
            <a:endParaRPr lang="en-US"/>
          </a:p>
        </p:txBody>
      </p:sp>
      <p:pic>
        <p:nvPicPr>
          <p:cNvPr id="20" name="Image 4" descr="Search"/>
          <p:cNvPicPr>
            <a:picLocks noChangeAspect="1"/>
          </p:cNvPicPr>
          <p:nvPr/>
        </p:nvPicPr>
        <p:blipFill>
          <a:blip r:embed="rId7"/>
          <a:srcRect/>
          <a:stretch/>
        </p:blipFill>
        <p:spPr>
          <a:xfrm>
            <a:off x="4662984" y="3718421"/>
            <a:ext cx="355600" cy="355600"/>
          </a:xfrm>
          <a:prstGeom prst="rect">
            <a:avLst/>
          </a:prstGeom>
        </p:spPr>
      </p:pic>
      <p:sp>
        <p:nvSpPr>
          <p:cNvPr id="21" name="Text 14"/>
          <p:cNvSpPr/>
          <p:nvPr/>
        </p:nvSpPr>
        <p:spPr>
          <a:xfrm>
            <a:off x="4662984" y="4150221"/>
            <a:ext cx="295191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Web search</a:t>
            </a:r>
            <a:endParaRPr lang="en-US" sz="2200" dirty="0"/>
          </a:p>
        </p:txBody>
      </p:sp>
      <p:sp>
        <p:nvSpPr>
          <p:cNvPr id="22" name="Text 15"/>
          <p:cNvSpPr/>
          <p:nvPr/>
        </p:nvSpPr>
        <p:spPr>
          <a:xfrm>
            <a:off x="4662984" y="4547691"/>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Best results first</a:t>
            </a:r>
            <a:endParaRPr lang="en-US" sz="1600" dirty="0"/>
          </a:p>
        </p:txBody>
      </p:sp>
      <p:sp>
        <p:nvSpPr>
          <p:cNvPr id="23" name="Shape 16"/>
          <p:cNvSpPr/>
          <p:nvPr/>
        </p:nvSpPr>
        <p:spPr>
          <a:xfrm>
            <a:off x="7995642" y="3461246"/>
            <a:ext cx="3380284" cy="1628080"/>
          </a:xfrm>
          <a:prstGeom prst="roundRect">
            <a:avLst>
              <a:gd name="adj" fmla="val 9166"/>
            </a:avLst>
          </a:prstGeom>
          <a:solidFill>
            <a:srgbClr val="FFFDF8"/>
          </a:solidFill>
          <a:ln w="6350">
            <a:solidFill>
              <a:srgbClr val="D9D3C2"/>
            </a:solidFill>
            <a:prstDash val="solid"/>
          </a:ln>
        </p:spPr>
        <p:txBody>
          <a:bodyPr/>
          <a:lstStyle/>
          <a:p>
            <a:endParaRPr lang="en-US"/>
          </a:p>
        </p:txBody>
      </p:sp>
      <p:pic>
        <p:nvPicPr>
          <p:cNvPr id="24" name="Image 5" descr="Chat"/>
          <p:cNvPicPr>
            <a:picLocks noChangeAspect="1"/>
          </p:cNvPicPr>
          <p:nvPr/>
        </p:nvPicPr>
        <p:blipFill>
          <a:blip r:embed="rId8"/>
          <a:srcRect/>
          <a:stretch/>
        </p:blipFill>
        <p:spPr>
          <a:xfrm>
            <a:off x="8252817" y="3718421"/>
            <a:ext cx="355600" cy="355600"/>
          </a:xfrm>
          <a:prstGeom prst="rect">
            <a:avLst/>
          </a:prstGeom>
        </p:spPr>
      </p:pic>
      <p:sp>
        <p:nvSpPr>
          <p:cNvPr id="25" name="Text 17"/>
          <p:cNvSpPr/>
          <p:nvPr/>
        </p:nvSpPr>
        <p:spPr>
          <a:xfrm>
            <a:off x="8252817" y="4150221"/>
            <a:ext cx="295191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Chatbots</a:t>
            </a:r>
            <a:endParaRPr lang="en-US" sz="2200" dirty="0"/>
          </a:p>
        </p:txBody>
      </p:sp>
      <p:sp>
        <p:nvSpPr>
          <p:cNvPr id="26" name="Text 18"/>
          <p:cNvSpPr/>
          <p:nvPr/>
        </p:nvSpPr>
        <p:spPr>
          <a:xfrm>
            <a:off x="8252817" y="4547691"/>
            <a:ext cx="295191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Predict the next word</a:t>
            </a:r>
            <a:endParaRPr lang="en-US" sz="1600" dirty="0"/>
          </a:p>
        </p:txBody>
      </p:sp>
      <p:sp>
        <p:nvSpPr>
          <p:cNvPr id="27"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Intro to Machine Learning · Weeks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6D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Why we need machine learning</a:t>
            </a:r>
            <a:endParaRPr lang="en-US" sz="3600" dirty="0"/>
          </a:p>
        </p:txBody>
      </p:sp>
      <p:sp>
        <p:nvSpPr>
          <p:cNvPr id="3" name="Shape 1"/>
          <p:cNvSpPr/>
          <p:nvPr/>
        </p:nvSpPr>
        <p:spPr>
          <a:xfrm>
            <a:off x="812800" y="1620441"/>
            <a:ext cx="5181600" cy="1164530"/>
          </a:xfrm>
          <a:prstGeom prst="roundRect">
            <a:avLst>
              <a:gd name="adj" fmla="val 8725"/>
            </a:avLst>
          </a:prstGeom>
          <a:solidFill>
            <a:srgbClr val="FFFDF8"/>
          </a:solidFill>
          <a:ln/>
        </p:spPr>
        <p:txBody>
          <a:bodyPr/>
          <a:lstStyle/>
          <a:p>
            <a:endParaRPr lang="en-US"/>
          </a:p>
        </p:txBody>
      </p:sp>
      <p:sp>
        <p:nvSpPr>
          <p:cNvPr id="4" name="Shape 2"/>
          <p:cNvSpPr/>
          <p:nvPr/>
        </p:nvSpPr>
        <p:spPr>
          <a:xfrm>
            <a:off x="812800" y="1620441"/>
            <a:ext cx="5181600" cy="1164530"/>
          </a:xfrm>
          <a:custGeom>
            <a:avLst/>
            <a:gdLst/>
            <a:ahLst/>
            <a:cxnLst/>
            <a:rect l="l" t="t" r="r" b="b"/>
            <a:pathLst>
              <a:path w="5181600" h="1164530">
                <a:moveTo>
                  <a:pt x="101600" y="1164530"/>
                </a:moveTo>
                <a:lnTo>
                  <a:pt x="101600" y="1164530"/>
                </a:lnTo>
                <a:arcTo wR="101600" hR="101600" stAng="5400000" swAng="5400000"/>
                <a:lnTo>
                  <a:pt x="0" y="101600"/>
                </a:lnTo>
                <a:arcTo wR="101600" hR="101600" stAng="10800000" swAng="5400000"/>
                <a:lnTo>
                  <a:pt x="101600" y="0"/>
                </a:lnTo>
                <a:arcTo wR="50800" hR="101600" stAng="16200000" swAng="-5400000"/>
                <a:lnTo>
                  <a:pt x="50800" y="1062930"/>
                </a:lnTo>
                <a:arcTo wR="50800" hR="101600" stAng="10800000" swAng="-5400000"/>
                <a:close/>
              </a:path>
            </a:pathLst>
          </a:custGeom>
          <a:solidFill>
            <a:srgbClr val="2F5BEA"/>
          </a:solidFill>
          <a:ln/>
        </p:spPr>
        <p:txBody>
          <a:bodyPr/>
          <a:lstStyle/>
          <a:p>
            <a:endParaRPr lang="en-US"/>
          </a:p>
        </p:txBody>
      </p:sp>
      <p:sp>
        <p:nvSpPr>
          <p:cNvPr id="5" name="Text 3"/>
          <p:cNvSpPr/>
          <p:nvPr/>
        </p:nvSpPr>
        <p:spPr>
          <a:xfrm>
            <a:off x="1117600" y="1874441"/>
            <a:ext cx="4761484"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Rules are too hard to write</a:t>
            </a:r>
            <a:endParaRPr lang="en-US" sz="2200" dirty="0"/>
          </a:p>
        </p:txBody>
      </p:sp>
      <p:sp>
        <p:nvSpPr>
          <p:cNvPr id="6" name="Text 4"/>
          <p:cNvSpPr/>
          <p:nvPr/>
        </p:nvSpPr>
        <p:spPr>
          <a:xfrm>
            <a:off x="1117600" y="2246511"/>
            <a:ext cx="476148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Images, speech, language</a:t>
            </a:r>
            <a:endParaRPr lang="en-US" sz="1600" dirty="0"/>
          </a:p>
        </p:txBody>
      </p:sp>
      <p:sp>
        <p:nvSpPr>
          <p:cNvPr id="7" name="Shape 5"/>
          <p:cNvSpPr/>
          <p:nvPr/>
        </p:nvSpPr>
        <p:spPr>
          <a:xfrm>
            <a:off x="6197600" y="1620441"/>
            <a:ext cx="5181600" cy="1164530"/>
          </a:xfrm>
          <a:prstGeom prst="roundRect">
            <a:avLst>
              <a:gd name="adj" fmla="val 8725"/>
            </a:avLst>
          </a:prstGeom>
          <a:solidFill>
            <a:srgbClr val="FFFDF8"/>
          </a:solidFill>
          <a:ln/>
        </p:spPr>
        <p:txBody>
          <a:bodyPr/>
          <a:lstStyle/>
          <a:p>
            <a:endParaRPr lang="en-US"/>
          </a:p>
        </p:txBody>
      </p:sp>
      <p:sp>
        <p:nvSpPr>
          <p:cNvPr id="8" name="Shape 6"/>
          <p:cNvSpPr/>
          <p:nvPr/>
        </p:nvSpPr>
        <p:spPr>
          <a:xfrm>
            <a:off x="6197600" y="1620441"/>
            <a:ext cx="5181600" cy="1164530"/>
          </a:xfrm>
          <a:custGeom>
            <a:avLst/>
            <a:gdLst/>
            <a:ahLst/>
            <a:cxnLst/>
            <a:rect l="l" t="t" r="r" b="b"/>
            <a:pathLst>
              <a:path w="5181600" h="1164530">
                <a:moveTo>
                  <a:pt x="101600" y="1164530"/>
                </a:moveTo>
                <a:lnTo>
                  <a:pt x="101600" y="1164530"/>
                </a:lnTo>
                <a:arcTo wR="101600" hR="101600" stAng="5400000" swAng="5400000"/>
                <a:lnTo>
                  <a:pt x="0" y="101600"/>
                </a:lnTo>
                <a:arcTo wR="101600" hR="101600" stAng="10800000" swAng="5400000"/>
                <a:lnTo>
                  <a:pt x="101600" y="0"/>
                </a:lnTo>
                <a:arcTo wR="50800" hR="101600" stAng="16200000" swAng="-5400000"/>
                <a:lnTo>
                  <a:pt x="50800" y="1062930"/>
                </a:lnTo>
                <a:arcTo wR="50800" hR="101600" stAng="10800000" swAng="-5400000"/>
                <a:close/>
              </a:path>
            </a:pathLst>
          </a:custGeom>
          <a:solidFill>
            <a:srgbClr val="2F5BEA"/>
          </a:solidFill>
          <a:ln/>
        </p:spPr>
        <p:txBody>
          <a:bodyPr/>
          <a:lstStyle/>
          <a:p>
            <a:endParaRPr lang="en-US"/>
          </a:p>
        </p:txBody>
      </p:sp>
      <p:sp>
        <p:nvSpPr>
          <p:cNvPr id="9" name="Text 7"/>
          <p:cNvSpPr/>
          <p:nvPr/>
        </p:nvSpPr>
        <p:spPr>
          <a:xfrm>
            <a:off x="6502400" y="1874441"/>
            <a:ext cx="4761484"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The world keeps changing</a:t>
            </a:r>
            <a:endParaRPr lang="en-US" sz="2200" dirty="0"/>
          </a:p>
        </p:txBody>
      </p:sp>
      <p:sp>
        <p:nvSpPr>
          <p:cNvPr id="10" name="Text 8"/>
          <p:cNvSpPr/>
          <p:nvPr/>
        </p:nvSpPr>
        <p:spPr>
          <a:xfrm>
            <a:off x="6502400" y="2246511"/>
            <a:ext cx="476148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Spammers adapt, tastes drift</a:t>
            </a:r>
            <a:endParaRPr lang="en-US" sz="1600" dirty="0"/>
          </a:p>
        </p:txBody>
      </p:sp>
      <p:sp>
        <p:nvSpPr>
          <p:cNvPr id="11" name="Shape 9"/>
          <p:cNvSpPr/>
          <p:nvPr/>
        </p:nvSpPr>
        <p:spPr>
          <a:xfrm>
            <a:off x="812800" y="2988171"/>
            <a:ext cx="5181600" cy="1164530"/>
          </a:xfrm>
          <a:prstGeom prst="roundRect">
            <a:avLst>
              <a:gd name="adj" fmla="val 8725"/>
            </a:avLst>
          </a:prstGeom>
          <a:solidFill>
            <a:srgbClr val="FFFDF8"/>
          </a:solidFill>
          <a:ln/>
        </p:spPr>
        <p:txBody>
          <a:bodyPr/>
          <a:lstStyle/>
          <a:p>
            <a:endParaRPr lang="en-US"/>
          </a:p>
        </p:txBody>
      </p:sp>
      <p:sp>
        <p:nvSpPr>
          <p:cNvPr id="12" name="Shape 10"/>
          <p:cNvSpPr/>
          <p:nvPr/>
        </p:nvSpPr>
        <p:spPr>
          <a:xfrm>
            <a:off x="812800" y="2988171"/>
            <a:ext cx="5181600" cy="1164530"/>
          </a:xfrm>
          <a:custGeom>
            <a:avLst/>
            <a:gdLst/>
            <a:ahLst/>
            <a:cxnLst/>
            <a:rect l="l" t="t" r="r" b="b"/>
            <a:pathLst>
              <a:path w="5181600" h="1164530">
                <a:moveTo>
                  <a:pt x="101600" y="1164530"/>
                </a:moveTo>
                <a:lnTo>
                  <a:pt x="101600" y="1164530"/>
                </a:lnTo>
                <a:arcTo wR="101600" hR="101600" stAng="5400000" swAng="5400000"/>
                <a:lnTo>
                  <a:pt x="0" y="101600"/>
                </a:lnTo>
                <a:arcTo wR="101600" hR="101600" stAng="10800000" swAng="5400000"/>
                <a:lnTo>
                  <a:pt x="101600" y="0"/>
                </a:lnTo>
                <a:arcTo wR="50800" hR="101600" stAng="16200000" swAng="-5400000"/>
                <a:lnTo>
                  <a:pt x="50800" y="1062930"/>
                </a:lnTo>
                <a:arcTo wR="50800" hR="101600" stAng="10800000" swAng="-5400000"/>
                <a:close/>
              </a:path>
            </a:pathLst>
          </a:custGeom>
          <a:solidFill>
            <a:srgbClr val="2F5BEA"/>
          </a:solidFill>
          <a:ln/>
        </p:spPr>
        <p:txBody>
          <a:bodyPr/>
          <a:lstStyle/>
          <a:p>
            <a:endParaRPr lang="en-US"/>
          </a:p>
        </p:txBody>
      </p:sp>
      <p:sp>
        <p:nvSpPr>
          <p:cNvPr id="13" name="Text 11"/>
          <p:cNvSpPr/>
          <p:nvPr/>
        </p:nvSpPr>
        <p:spPr>
          <a:xfrm>
            <a:off x="1117600" y="3242171"/>
            <a:ext cx="4761484"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Too much data for humans</a:t>
            </a:r>
            <a:endParaRPr lang="en-US" sz="2200" dirty="0"/>
          </a:p>
        </p:txBody>
      </p:sp>
      <p:sp>
        <p:nvSpPr>
          <p:cNvPr id="14" name="Text 12"/>
          <p:cNvSpPr/>
          <p:nvPr/>
        </p:nvSpPr>
        <p:spPr>
          <a:xfrm>
            <a:off x="1117600" y="3614241"/>
            <a:ext cx="476148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Millions of rows, thousands of columns</a:t>
            </a:r>
            <a:endParaRPr lang="en-US" sz="1600" dirty="0"/>
          </a:p>
        </p:txBody>
      </p:sp>
      <p:sp>
        <p:nvSpPr>
          <p:cNvPr id="15" name="Shape 13"/>
          <p:cNvSpPr/>
          <p:nvPr/>
        </p:nvSpPr>
        <p:spPr>
          <a:xfrm>
            <a:off x="6197600" y="2988171"/>
            <a:ext cx="5181600" cy="1164530"/>
          </a:xfrm>
          <a:prstGeom prst="roundRect">
            <a:avLst>
              <a:gd name="adj" fmla="val 8725"/>
            </a:avLst>
          </a:prstGeom>
          <a:solidFill>
            <a:srgbClr val="FFFDF8"/>
          </a:solidFill>
          <a:ln/>
        </p:spPr>
        <p:txBody>
          <a:bodyPr/>
          <a:lstStyle/>
          <a:p>
            <a:endParaRPr lang="en-US"/>
          </a:p>
        </p:txBody>
      </p:sp>
      <p:sp>
        <p:nvSpPr>
          <p:cNvPr id="16" name="Shape 14"/>
          <p:cNvSpPr/>
          <p:nvPr/>
        </p:nvSpPr>
        <p:spPr>
          <a:xfrm>
            <a:off x="6197600" y="2988171"/>
            <a:ext cx="5181600" cy="1164530"/>
          </a:xfrm>
          <a:custGeom>
            <a:avLst/>
            <a:gdLst/>
            <a:ahLst/>
            <a:cxnLst/>
            <a:rect l="l" t="t" r="r" b="b"/>
            <a:pathLst>
              <a:path w="5181600" h="1164530">
                <a:moveTo>
                  <a:pt x="101600" y="1164530"/>
                </a:moveTo>
                <a:lnTo>
                  <a:pt x="101600" y="1164530"/>
                </a:lnTo>
                <a:arcTo wR="101600" hR="101600" stAng="5400000" swAng="5400000"/>
                <a:lnTo>
                  <a:pt x="0" y="101600"/>
                </a:lnTo>
                <a:arcTo wR="101600" hR="101600" stAng="10800000" swAng="5400000"/>
                <a:lnTo>
                  <a:pt x="101600" y="0"/>
                </a:lnTo>
                <a:arcTo wR="50800" hR="101600" stAng="16200000" swAng="-5400000"/>
                <a:lnTo>
                  <a:pt x="50800" y="1062930"/>
                </a:lnTo>
                <a:arcTo wR="50800" hR="101600" stAng="10800000" swAng="-5400000"/>
                <a:close/>
              </a:path>
            </a:pathLst>
          </a:custGeom>
          <a:solidFill>
            <a:srgbClr val="2F5BEA"/>
          </a:solidFill>
          <a:ln/>
        </p:spPr>
        <p:txBody>
          <a:bodyPr/>
          <a:lstStyle/>
          <a:p>
            <a:endParaRPr lang="en-US"/>
          </a:p>
        </p:txBody>
      </p:sp>
      <p:sp>
        <p:nvSpPr>
          <p:cNvPr id="17" name="Text 15"/>
          <p:cNvSpPr/>
          <p:nvPr/>
        </p:nvSpPr>
        <p:spPr>
          <a:xfrm>
            <a:off x="6502400" y="3242171"/>
            <a:ext cx="4761484"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One size fits nobody</a:t>
            </a:r>
            <a:endParaRPr lang="en-US" sz="2200" dirty="0"/>
          </a:p>
        </p:txBody>
      </p:sp>
      <p:sp>
        <p:nvSpPr>
          <p:cNvPr id="18" name="Text 16"/>
          <p:cNvSpPr/>
          <p:nvPr/>
        </p:nvSpPr>
        <p:spPr>
          <a:xfrm>
            <a:off x="6502400" y="3614241"/>
            <a:ext cx="476148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Personalization for every user</a:t>
            </a:r>
            <a:endParaRPr lang="en-US" sz="16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Intro to Machine Learning · Weeks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Three ways to learn</a:t>
            </a:r>
            <a:endParaRPr lang="en-US" sz="3600" dirty="0"/>
          </a:p>
        </p:txBody>
      </p:sp>
      <p:sp>
        <p:nvSpPr>
          <p:cNvPr id="3" name="Shape 1"/>
          <p:cNvSpPr/>
          <p:nvPr/>
        </p:nvSpPr>
        <p:spPr>
          <a:xfrm>
            <a:off x="809625" y="1609625"/>
            <a:ext cx="3378200" cy="2005211"/>
          </a:xfrm>
          <a:prstGeom prst="roundRect">
            <a:avLst>
              <a:gd name="adj" fmla="val 7600"/>
            </a:avLst>
          </a:prstGeom>
          <a:solidFill>
            <a:srgbClr val="FFFDF8"/>
          </a:solidFill>
          <a:ln/>
        </p:spPr>
        <p:txBody>
          <a:bodyPr/>
          <a:lstStyle/>
          <a:p>
            <a:endParaRPr lang="en-US"/>
          </a:p>
        </p:txBody>
      </p:sp>
      <p:sp>
        <p:nvSpPr>
          <p:cNvPr id="5" name="Text 3"/>
          <p:cNvSpPr/>
          <p:nvPr/>
        </p:nvSpPr>
        <p:spPr>
          <a:xfrm>
            <a:off x="1066800" y="1975693"/>
            <a:ext cx="2956306" cy="346670"/>
          </a:xfrm>
          <a:prstGeom prst="rect">
            <a:avLst/>
          </a:prstGeom>
          <a:noFill/>
          <a:ln/>
        </p:spPr>
        <p:txBody>
          <a:bodyPr wrap="square" lIns="0" tIns="0" rIns="0" bIns="0" rtlCol="0" anchor="t">
            <a:normAutofit/>
          </a:bodyPr>
          <a:lstStyle/>
          <a:p>
            <a:pPr marL="0" indent="0" algn="l">
              <a:lnSpc>
                <a:spcPts val="2530"/>
              </a:lnSpc>
              <a:buNone/>
            </a:pPr>
            <a:r>
              <a:rPr lang="en-US" sz="2200" b="1" dirty="0">
                <a:latin typeface="DM Sans" pitchFamily="34" charset="0"/>
                <a:ea typeface="DM Sans" pitchFamily="34" charset="-122"/>
                <a:cs typeface="DM Sans" pitchFamily="34" charset="-120"/>
              </a:rPr>
              <a:t>Supervised</a:t>
            </a:r>
            <a:endParaRPr lang="en-US" sz="2200" dirty="0"/>
          </a:p>
        </p:txBody>
      </p:sp>
      <p:sp>
        <p:nvSpPr>
          <p:cNvPr id="6" name="Text 4"/>
          <p:cNvSpPr/>
          <p:nvPr/>
        </p:nvSpPr>
        <p:spPr>
          <a:xfrm>
            <a:off x="1066800" y="2688431"/>
            <a:ext cx="2956306" cy="309860"/>
          </a:xfrm>
          <a:prstGeom prst="rect">
            <a:avLst/>
          </a:prstGeom>
          <a:noFill/>
          <a:ln/>
        </p:spPr>
        <p:txBody>
          <a:bodyPr wrap="square" lIns="0" tIns="0" rIns="0" bIns="0" rtlCol="0" anchor="t">
            <a:normAutofit/>
          </a:bodyPr>
          <a:lstStyle/>
          <a:p>
            <a:pPr marL="0" indent="0" algn="l">
              <a:lnSpc>
                <a:spcPts val="2240"/>
              </a:lnSpc>
              <a:buNone/>
            </a:pPr>
            <a:r>
              <a:rPr lang="en-US" sz="1600" b="1" dirty="0">
                <a:latin typeface="DM Sans" pitchFamily="34" charset="0"/>
                <a:ea typeface="DM Sans" pitchFamily="34" charset="-122"/>
                <a:cs typeface="DM Sans" pitchFamily="34" charset="-120"/>
              </a:rPr>
              <a:t>Data comes with answers</a:t>
            </a:r>
            <a:endParaRPr lang="en-US" sz="1600" dirty="0"/>
          </a:p>
        </p:txBody>
      </p:sp>
      <p:sp>
        <p:nvSpPr>
          <p:cNvPr id="7" name="Text 5"/>
          <p:cNvSpPr/>
          <p:nvPr/>
        </p:nvSpPr>
        <p:spPr>
          <a:xfrm>
            <a:off x="1066800" y="3074491"/>
            <a:ext cx="2956306" cy="309860"/>
          </a:xfrm>
          <a:prstGeom prst="rect">
            <a:avLst/>
          </a:prstGeom>
          <a:noFill/>
          <a:ln/>
        </p:spPr>
        <p:txBody>
          <a:bodyPr wrap="square" lIns="0" tIns="0" rIns="0" bIns="0" rtlCol="0" anchor="t">
            <a:normAutofit/>
          </a:bodyPr>
          <a:lstStyle/>
          <a:p>
            <a:pPr marL="0" indent="0" algn="l">
              <a:lnSpc>
                <a:spcPts val="2240"/>
              </a:lnSpc>
              <a:buNone/>
            </a:pPr>
            <a:r>
              <a:rPr lang="en-US" sz="1600" dirty="0">
                <a:latin typeface="DM Sans" pitchFamily="34" charset="0"/>
                <a:ea typeface="DM Sans" pitchFamily="34" charset="-122"/>
                <a:cs typeface="DM Sans" pitchFamily="34" charset="-120"/>
              </a:rPr>
              <a:t>Predict a price, spot spam</a:t>
            </a:r>
            <a:endParaRPr lang="en-US" sz="1600" dirty="0"/>
          </a:p>
        </p:txBody>
      </p:sp>
      <p:sp>
        <p:nvSpPr>
          <p:cNvPr id="8" name="Shape 6"/>
          <p:cNvSpPr/>
          <p:nvPr/>
        </p:nvSpPr>
        <p:spPr>
          <a:xfrm>
            <a:off x="4397375" y="1623616"/>
            <a:ext cx="3384550" cy="1998861"/>
          </a:xfrm>
          <a:prstGeom prst="roundRect">
            <a:avLst>
              <a:gd name="adj" fmla="val 7466"/>
            </a:avLst>
          </a:prstGeom>
          <a:solidFill>
            <a:srgbClr val="FFFDF8"/>
          </a:solidFill>
          <a:ln w="6350">
            <a:solidFill>
              <a:srgbClr val="D9D3C2"/>
            </a:solidFill>
            <a:prstDash val="solid"/>
          </a:ln>
        </p:spPr>
        <p:txBody>
          <a:bodyPr/>
          <a:lstStyle/>
          <a:p>
            <a:endParaRPr lang="en-US"/>
          </a:p>
        </p:txBody>
      </p:sp>
      <p:sp>
        <p:nvSpPr>
          <p:cNvPr id="10" name="Text 8"/>
          <p:cNvSpPr/>
          <p:nvPr/>
        </p:nvSpPr>
        <p:spPr>
          <a:xfrm>
            <a:off x="4654550" y="1975693"/>
            <a:ext cx="2956306"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Unsupervised</a:t>
            </a:r>
            <a:endParaRPr lang="en-US" sz="2200" dirty="0"/>
          </a:p>
        </p:txBody>
      </p:sp>
      <p:sp>
        <p:nvSpPr>
          <p:cNvPr id="11" name="Text 9"/>
          <p:cNvSpPr/>
          <p:nvPr/>
        </p:nvSpPr>
        <p:spPr>
          <a:xfrm>
            <a:off x="4654550" y="2694781"/>
            <a:ext cx="295630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No answers, find structure</a:t>
            </a:r>
            <a:endParaRPr lang="en-US" sz="1600" dirty="0"/>
          </a:p>
        </p:txBody>
      </p:sp>
      <p:sp>
        <p:nvSpPr>
          <p:cNvPr id="12" name="Text 10"/>
          <p:cNvSpPr/>
          <p:nvPr/>
        </p:nvSpPr>
        <p:spPr>
          <a:xfrm>
            <a:off x="4654550" y="3080841"/>
            <a:ext cx="295630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Group similar customers</a:t>
            </a:r>
            <a:endParaRPr lang="en-US" sz="1600" dirty="0"/>
          </a:p>
        </p:txBody>
      </p:sp>
      <p:sp>
        <p:nvSpPr>
          <p:cNvPr id="13" name="Shape 11"/>
          <p:cNvSpPr/>
          <p:nvPr/>
        </p:nvSpPr>
        <p:spPr>
          <a:xfrm>
            <a:off x="7991475" y="1609625"/>
            <a:ext cx="3384550" cy="1998861"/>
          </a:xfrm>
          <a:prstGeom prst="roundRect">
            <a:avLst>
              <a:gd name="adj" fmla="val 7466"/>
            </a:avLst>
          </a:prstGeom>
          <a:solidFill>
            <a:srgbClr val="FFFDF8"/>
          </a:solidFill>
          <a:ln w="6350">
            <a:solidFill>
              <a:srgbClr val="D9D3C2"/>
            </a:solidFill>
            <a:prstDash val="solid"/>
          </a:ln>
        </p:spPr>
        <p:txBody>
          <a:bodyPr/>
          <a:lstStyle/>
          <a:p>
            <a:endParaRPr lang="en-US"/>
          </a:p>
        </p:txBody>
      </p:sp>
      <p:sp>
        <p:nvSpPr>
          <p:cNvPr id="15" name="Text 13"/>
          <p:cNvSpPr/>
          <p:nvPr/>
        </p:nvSpPr>
        <p:spPr>
          <a:xfrm>
            <a:off x="8248650" y="1975693"/>
            <a:ext cx="2956306"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Reinforcement</a:t>
            </a:r>
            <a:endParaRPr lang="en-US" sz="2200" dirty="0"/>
          </a:p>
        </p:txBody>
      </p:sp>
      <p:sp>
        <p:nvSpPr>
          <p:cNvPr id="16" name="Text 14"/>
          <p:cNvSpPr/>
          <p:nvPr/>
        </p:nvSpPr>
        <p:spPr>
          <a:xfrm>
            <a:off x="8248650" y="2694781"/>
            <a:ext cx="295630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Rewards, trial and error</a:t>
            </a:r>
            <a:endParaRPr lang="en-US" sz="1600" dirty="0"/>
          </a:p>
        </p:txBody>
      </p:sp>
      <p:sp>
        <p:nvSpPr>
          <p:cNvPr id="17" name="Text 15"/>
          <p:cNvSpPr/>
          <p:nvPr/>
        </p:nvSpPr>
        <p:spPr>
          <a:xfrm>
            <a:off x="8248650" y="3080841"/>
            <a:ext cx="295630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Game-playing agents, robots</a:t>
            </a:r>
            <a:endParaRPr lang="en-US" sz="16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Intro to Machine Learning · Weeks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6D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Anatomy of a dataset</a:t>
            </a:r>
            <a:endParaRPr lang="en-US" sz="3600" dirty="0"/>
          </a:p>
        </p:txBody>
      </p:sp>
      <p:sp>
        <p:nvSpPr>
          <p:cNvPr id="3" name="Shape 1"/>
          <p:cNvSpPr/>
          <p:nvPr/>
        </p:nvSpPr>
        <p:spPr>
          <a:xfrm>
            <a:off x="815975" y="1623616"/>
            <a:ext cx="10560050" cy="3038177"/>
          </a:xfrm>
          <a:prstGeom prst="roundRect">
            <a:avLst>
              <a:gd name="adj" fmla="val 4912"/>
            </a:avLst>
          </a:prstGeom>
          <a:solidFill>
            <a:srgbClr val="FFFDF8"/>
          </a:solidFill>
          <a:ln w="6350">
            <a:solidFill>
              <a:srgbClr val="D9D3C2"/>
            </a:solidFill>
            <a:prstDash val="solid"/>
          </a:ln>
        </p:spPr>
        <p:txBody>
          <a:bodyPr/>
          <a:lstStyle/>
          <a:p>
            <a:endParaRPr lang="en-US"/>
          </a:p>
        </p:txBody>
      </p:sp>
      <p:sp>
        <p:nvSpPr>
          <p:cNvPr id="4" name="Text 2"/>
          <p:cNvSpPr/>
          <p:nvPr/>
        </p:nvSpPr>
        <p:spPr>
          <a:xfrm>
            <a:off x="971550" y="1779191"/>
            <a:ext cx="7696200" cy="441920"/>
          </a:xfrm>
          <a:custGeom>
            <a:avLst/>
            <a:gdLst/>
            <a:ahLst/>
            <a:cxnLst/>
            <a:rect l="l" t="t" r="r" b="b"/>
            <a:pathLst>
              <a:path w="7696200" h="441920">
                <a:moveTo>
                  <a:pt x="101600" y="0"/>
                </a:moveTo>
                <a:lnTo>
                  <a:pt x="7696200" y="0"/>
                </a:lnTo>
                <a:lnTo>
                  <a:pt x="7696200" y="441920"/>
                </a:lnTo>
                <a:lnTo>
                  <a:pt x="101600" y="441920"/>
                </a:lnTo>
                <a:arcTo wR="101600" hR="101600" stAng="5400000" swAng="5400000"/>
                <a:lnTo>
                  <a:pt x="0" y="101600"/>
                </a:lnTo>
                <a:arcTo wR="101600" hR="101600" stAng="10800000" swAng="5400000"/>
                <a:close/>
              </a:path>
            </a:pathLst>
          </a:custGeom>
          <a:solidFill>
            <a:srgbClr val="2F5BEA"/>
          </a:solidFill>
          <a:ln/>
        </p:spPr>
        <p:txBody>
          <a:bodyPr wrap="square" lIns="41910" tIns="88900" rIns="67310" bIns="63500" rtlCol="0" anchor="t">
            <a:normAutofit/>
          </a:bodyPr>
          <a:lstStyle/>
          <a:p>
            <a:pPr marL="0" indent="0" algn="ctr">
              <a:lnSpc>
                <a:spcPts val="2080"/>
              </a:lnSpc>
              <a:buNone/>
            </a:pPr>
            <a:r>
              <a:rPr lang="en-US" sz="1600" b="1" dirty="0">
                <a:solidFill>
                  <a:srgbClr val="F5F2EA"/>
                </a:solidFill>
                <a:latin typeface="DM Sans" pitchFamily="34" charset="0"/>
                <a:ea typeface="DM Sans" pitchFamily="34" charset="-122"/>
                <a:cs typeface="DM Sans" pitchFamily="34" charset="-120"/>
              </a:rPr>
              <a:t>Features (inputs, x)</a:t>
            </a:r>
            <a:endParaRPr lang="en-US" sz="1600" dirty="0"/>
          </a:p>
        </p:txBody>
      </p:sp>
      <p:sp>
        <p:nvSpPr>
          <p:cNvPr id="5" name="Shape 3"/>
          <p:cNvSpPr/>
          <p:nvPr/>
        </p:nvSpPr>
        <p:spPr>
          <a:xfrm>
            <a:off x="971550" y="1779191"/>
            <a:ext cx="7696200" cy="441920"/>
          </a:xfrm>
          <a:custGeom>
            <a:avLst/>
            <a:gdLst/>
            <a:ahLst/>
            <a:cxnLst/>
            <a:rect l="l" t="t" r="r" b="b"/>
            <a:pathLst>
              <a:path w="7696200" h="441920">
                <a:moveTo>
                  <a:pt x="7670800" y="0"/>
                </a:moveTo>
                <a:lnTo>
                  <a:pt x="7696200" y="0"/>
                </a:lnTo>
                <a:lnTo>
                  <a:pt x="7696200" y="441920"/>
                </a:lnTo>
                <a:lnTo>
                  <a:pt x="7670800" y="441920"/>
                </a:lnTo>
                <a:lnTo>
                  <a:pt x="7670800" y="0"/>
                </a:lnTo>
                <a:close/>
              </a:path>
            </a:pathLst>
          </a:custGeom>
          <a:solidFill>
            <a:srgbClr val="FFFDF8"/>
          </a:solidFill>
          <a:ln/>
        </p:spPr>
        <p:txBody>
          <a:bodyPr/>
          <a:lstStyle/>
          <a:p>
            <a:endParaRPr lang="en-US"/>
          </a:p>
        </p:txBody>
      </p:sp>
      <p:sp>
        <p:nvSpPr>
          <p:cNvPr id="6" name="Text 4"/>
          <p:cNvSpPr/>
          <p:nvPr/>
        </p:nvSpPr>
        <p:spPr>
          <a:xfrm>
            <a:off x="8667750" y="1779191"/>
            <a:ext cx="2565400" cy="441920"/>
          </a:xfrm>
          <a:custGeom>
            <a:avLst/>
            <a:gdLst/>
            <a:ahLst/>
            <a:cxnLst/>
            <a:rect l="l" t="t" r="r" b="b"/>
            <a:pathLst>
              <a:path w="2565400" h="441920">
                <a:moveTo>
                  <a:pt x="0" y="0"/>
                </a:moveTo>
                <a:lnTo>
                  <a:pt x="2463800" y="0"/>
                </a:lnTo>
                <a:arcTo wR="101600" hR="101600" stAng="16200000" swAng="5400000"/>
                <a:lnTo>
                  <a:pt x="2565400" y="340320"/>
                </a:lnTo>
                <a:arcTo wR="101600" hR="101600" stAng="0" swAng="5400000"/>
                <a:lnTo>
                  <a:pt x="0" y="441920"/>
                </a:lnTo>
                <a:lnTo>
                  <a:pt x="0" y="0"/>
                </a:lnTo>
                <a:close/>
              </a:path>
            </a:pathLst>
          </a:custGeom>
          <a:solidFill>
            <a:srgbClr val="C2410C"/>
          </a:solidFill>
          <a:ln/>
        </p:spPr>
        <p:txBody>
          <a:bodyPr wrap="square" lIns="118491" tIns="88900" rIns="118491" bIns="63500" rtlCol="0" anchor="t">
            <a:normAutofit/>
          </a:bodyPr>
          <a:lstStyle/>
          <a:p>
            <a:pPr marL="0" indent="0" algn="ctr">
              <a:lnSpc>
                <a:spcPts val="2080"/>
              </a:lnSpc>
              <a:buNone/>
            </a:pPr>
            <a:r>
              <a:rPr lang="en-US" sz="1600" b="1" dirty="0">
                <a:solidFill>
                  <a:srgbClr val="F5F2EA"/>
                </a:solidFill>
                <a:latin typeface="DM Sans" pitchFamily="34" charset="0"/>
                <a:ea typeface="DM Sans" pitchFamily="34" charset="-122"/>
                <a:cs typeface="DM Sans" pitchFamily="34" charset="-120"/>
              </a:rPr>
              <a:t>Label (target, y)</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84250" y="2310011"/>
          <a:ext cx="10248900" cy="2196205"/>
        </p:xfrm>
        <a:graphic>
          <a:graphicData uri="http://schemas.openxmlformats.org/drawingml/2006/table">
            <a:tbl>
              <a:tblPr/>
              <a:tblGrid>
                <a:gridCol w="2562225">
                  <a:extLst>
                    <a:ext uri="{9D8B030D-6E8A-4147-A177-3AD203B41FA5}">
                      <a16:colId xmlns:a16="http://schemas.microsoft.com/office/drawing/2014/main" val="20000"/>
                    </a:ext>
                  </a:extLst>
                </a:gridCol>
                <a:gridCol w="2562225">
                  <a:extLst>
                    <a:ext uri="{9D8B030D-6E8A-4147-A177-3AD203B41FA5}">
                      <a16:colId xmlns:a16="http://schemas.microsoft.com/office/drawing/2014/main" val="20001"/>
                    </a:ext>
                  </a:extLst>
                </a:gridCol>
                <a:gridCol w="2562225">
                  <a:extLst>
                    <a:ext uri="{9D8B030D-6E8A-4147-A177-3AD203B41FA5}">
                      <a16:colId xmlns:a16="http://schemas.microsoft.com/office/drawing/2014/main" val="20002"/>
                    </a:ext>
                  </a:extLst>
                </a:gridCol>
                <a:gridCol w="2562225">
                  <a:extLst>
                    <a:ext uri="{9D8B030D-6E8A-4147-A177-3AD203B41FA5}">
                      <a16:colId xmlns:a16="http://schemas.microsoft.com/office/drawing/2014/main" val="20003"/>
                    </a:ext>
                  </a:extLst>
                </a:gridCol>
              </a:tblGrid>
              <a:tr h="439241">
                <a:tc>
                  <a:txBody>
                    <a:bodyPr/>
                    <a:lstStyle/>
                    <a:p>
                      <a:pPr marL="0" indent="0" algn="ctr">
                        <a:lnSpc>
                          <a:spcPts val="2240"/>
                        </a:lnSpc>
                        <a:buNone/>
                      </a:pPr>
                      <a:r>
                        <a:rPr lang="en-US" sz="1600" b="1" dirty="0">
                          <a:solidFill>
                            <a:srgbClr val="14182B"/>
                          </a:solidFill>
                          <a:latin typeface="DM Sans" pitchFamily="34" charset="0"/>
                          <a:ea typeface="DM Sans" pitchFamily="34" charset="-122"/>
                          <a:cs typeface="DM Sans" pitchFamily="34" charset="-120"/>
                        </a:rPr>
                        <a:t>Area (m²)</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marL="0" indent="0" algn="ctr">
                        <a:lnSpc>
                          <a:spcPts val="2240"/>
                        </a:lnSpc>
                        <a:buNone/>
                      </a:pPr>
                      <a:r>
                        <a:rPr lang="en-US" sz="1600" b="1" dirty="0">
                          <a:solidFill>
                            <a:srgbClr val="14182B"/>
                          </a:solidFill>
                          <a:latin typeface="DM Sans" pitchFamily="34" charset="0"/>
                          <a:ea typeface="DM Sans" pitchFamily="34" charset="-122"/>
                          <a:cs typeface="DM Sans" pitchFamily="34" charset="-120"/>
                        </a:rPr>
                        <a:t>Rooms</a:t>
                      </a:r>
                      <a:endParaRPr lang="en-US" sz="1600" dirty="0">
                        <a:latin typeface="DM Sans" charset="0"/>
                        <a:ea typeface="DM Sans" charset="0"/>
                        <a:cs typeface="DM Sans" charset="0"/>
                      </a:endParaRPr>
                    </a:p>
                  </a:txBody>
                  <a:tcPr marL="71120" marR="71120" marT="71120" marB="71120">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marL="0" indent="0" algn="ctr">
                        <a:lnSpc>
                          <a:spcPts val="2240"/>
                        </a:lnSpc>
                        <a:buNone/>
                      </a:pPr>
                      <a:r>
                        <a:rPr lang="en-US" sz="1600" b="1" dirty="0">
                          <a:solidFill>
                            <a:srgbClr val="14182B"/>
                          </a:solidFill>
                          <a:latin typeface="DM Sans" pitchFamily="34" charset="0"/>
                          <a:ea typeface="DM Sans" pitchFamily="34" charset="-122"/>
                          <a:cs typeface="DM Sans" pitchFamily="34" charset="-120"/>
                        </a:rPr>
                        <a:t>Age (years)</a:t>
                      </a:r>
                      <a:endParaRPr lang="en-US" sz="1600" dirty="0">
                        <a:latin typeface="DM Sans" charset="0"/>
                        <a:ea typeface="DM Sans" charset="0"/>
                        <a:cs typeface="DM Sans" charset="0"/>
                      </a:endParaRPr>
                    </a:p>
                  </a:txBody>
                  <a:tcPr marL="71120" marR="71120" marT="71120" marB="71120">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tc>
                  <a:txBody>
                    <a:bodyPr/>
                    <a:lstStyle/>
                    <a:p>
                      <a:pPr marL="0" indent="0" algn="ctr">
                        <a:lnSpc>
                          <a:spcPts val="2240"/>
                        </a:lnSpc>
                        <a:buNone/>
                      </a:pPr>
                      <a:r>
                        <a:rPr lang="en-US" sz="1600" b="1" dirty="0">
                          <a:solidFill>
                            <a:srgbClr val="C2410C"/>
                          </a:solidFill>
                          <a:latin typeface="DM Sans" pitchFamily="34" charset="0"/>
                          <a:ea typeface="DM Sans" pitchFamily="34" charset="-122"/>
                          <a:cs typeface="DM Sans" pitchFamily="34" charset="-120"/>
                        </a:rPr>
                        <a:t>Price (k$)</a:t>
                      </a:r>
                      <a:endParaRPr lang="en-US" sz="1600" dirty="0">
                        <a:latin typeface="DM Sans" charset="0"/>
                        <a:ea typeface="DM Sans" charset="0"/>
                        <a:cs typeface="DM Sans" charset="0"/>
                      </a:endParaRPr>
                    </a:p>
                  </a:txBody>
                  <a:tcPr marL="71120" marR="71120" marT="71120" marB="71120">
                    <a:lnL w="12700" cap="flat" cmpd="sng" algn="ctr">
                      <a:solidFill>
                        <a:srgbClr val="BCBBB8"/>
                      </a:solidFill>
                      <a:prstDash val="solid"/>
                      <a:round/>
                      <a:headEnd type="none" w="med" len="med"/>
                      <a:tailEnd type="none" w="med" len="med"/>
                    </a:lnL>
                    <a:lnR w="12700" cap="flat" cmpd="sng" algn="ctr">
                      <a:solidFill>
                        <a:srgbClr val="BCBBB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BB8"/>
                      </a:solidFill>
                      <a:prstDash val="solid"/>
                      <a:round/>
                      <a:headEnd type="none" w="med" len="med"/>
                      <a:tailEnd type="none" w="med" len="med"/>
                    </a:lnB>
                    <a:solidFill>
                      <a:srgbClr val="ECEAE6"/>
                    </a:solidFill>
                  </a:tcPr>
                </a:tc>
                <a:extLst>
                  <a:ext uri="{0D108BD9-81ED-4DB2-BD59-A6C34878D82A}">
                    <a16:rowId xmlns:a16="http://schemas.microsoft.com/office/drawing/2014/main" val="10000"/>
                  </a:ext>
                </a:extLst>
              </a:tr>
              <a:tr h="439241">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85</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2</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12</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C2410C"/>
                          </a:solidFill>
                          <a:latin typeface="DM Sans" pitchFamily="34" charset="0"/>
                          <a:ea typeface="DM Sans" pitchFamily="34" charset="-122"/>
                          <a:cs typeface="DM Sans" pitchFamily="34" charset="-120"/>
                        </a:rPr>
                        <a:t>210</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BB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439241">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120</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3</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5</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C2410C"/>
                          </a:solidFill>
                          <a:latin typeface="DM Sans" pitchFamily="34" charset="0"/>
                          <a:ea typeface="DM Sans" pitchFamily="34" charset="-122"/>
                          <a:cs typeface="DM Sans" pitchFamily="34" charset="-120"/>
                        </a:rPr>
                        <a:t>340</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2"/>
                  </a:ext>
                </a:extLst>
              </a:tr>
              <a:tr h="439241">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60</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1</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30</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C2410C"/>
                          </a:solidFill>
                          <a:latin typeface="DM Sans" pitchFamily="34" charset="0"/>
                          <a:ea typeface="DM Sans" pitchFamily="34" charset="-122"/>
                          <a:cs typeface="DM Sans" pitchFamily="34" charset="-120"/>
                        </a:rPr>
                        <a:t>130</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439241">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150</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4</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14182B"/>
                          </a:solidFill>
                          <a:latin typeface="DM Sans" pitchFamily="34" charset="0"/>
                          <a:ea typeface="DM Sans" pitchFamily="34" charset="-122"/>
                          <a:cs typeface="DM Sans" pitchFamily="34" charset="-120"/>
                        </a:rPr>
                        <a:t>2</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gn="ctr">
                        <a:lnSpc>
                          <a:spcPts val="2240"/>
                        </a:lnSpc>
                        <a:buNone/>
                      </a:pPr>
                      <a:r>
                        <a:rPr lang="en-US" sz="1600" dirty="0">
                          <a:solidFill>
                            <a:srgbClr val="C2410C"/>
                          </a:solidFill>
                          <a:latin typeface="DM Sans" pitchFamily="34" charset="0"/>
                          <a:ea typeface="DM Sans" pitchFamily="34" charset="-122"/>
                          <a:cs typeface="DM Sans" pitchFamily="34" charset="-120"/>
                        </a:rPr>
                        <a:t>460</a:t>
                      </a:r>
                      <a:endParaRPr lang="en-US" sz="1600" dirty="0">
                        <a:latin typeface="DM Sans" charset="0"/>
                        <a:ea typeface="DM Sans" charset="0"/>
                        <a:cs typeface="DM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5"/>
          <p:cNvSpPr/>
          <p:nvPr/>
        </p:nvSpPr>
        <p:spPr>
          <a:xfrm>
            <a:off x="815975" y="4972943"/>
            <a:ext cx="2131814" cy="468610"/>
          </a:xfrm>
          <a:prstGeom prst="roundRect">
            <a:avLst>
              <a:gd name="adj" fmla="val 50000"/>
            </a:avLst>
          </a:prstGeom>
          <a:solidFill>
            <a:srgbClr val="FFFDF8"/>
          </a:solidFill>
          <a:ln w="6350">
            <a:solidFill>
              <a:srgbClr val="D9D3C2"/>
            </a:solidFill>
            <a:prstDash val="solid"/>
          </a:ln>
        </p:spPr>
        <p:txBody>
          <a:bodyPr wrap="none" lIns="0" tIns="0" rIns="0" bIns="0" rtlCol="0" anchor="ctr">
            <a:normAutofit/>
          </a:bodyPr>
          <a:lstStyle/>
          <a:p>
            <a:pPr marL="0" indent="0" algn="ctr">
              <a:lnSpc>
                <a:spcPts val="2240"/>
              </a:lnSpc>
              <a:buNone/>
            </a:pPr>
            <a:r>
              <a:rPr lang="en-US" sz="1600" b="1" dirty="0">
                <a:solidFill>
                  <a:srgbClr val="14182B"/>
                </a:solidFill>
                <a:latin typeface="DM Sans" pitchFamily="34" charset="0"/>
                <a:ea typeface="DM Sans" pitchFamily="34" charset="-122"/>
                <a:cs typeface="DM Sans" pitchFamily="34" charset="-120"/>
              </a:rPr>
              <a:t>Row = one sample</a:t>
            </a:r>
            <a:endParaRPr lang="en-US" sz="1600" dirty="0"/>
          </a:p>
        </p:txBody>
      </p:sp>
      <p:sp>
        <p:nvSpPr>
          <p:cNvPr id="9" name="Text 6"/>
          <p:cNvSpPr/>
          <p:nvPr/>
        </p:nvSpPr>
        <p:spPr>
          <a:xfrm>
            <a:off x="3081139" y="4972943"/>
            <a:ext cx="2493665" cy="468610"/>
          </a:xfrm>
          <a:prstGeom prst="roundRect">
            <a:avLst>
              <a:gd name="adj" fmla="val 50000"/>
            </a:avLst>
          </a:prstGeom>
          <a:solidFill>
            <a:srgbClr val="FFFDF8"/>
          </a:solidFill>
          <a:ln w="6350">
            <a:solidFill>
              <a:srgbClr val="D9D3C2"/>
            </a:solidFill>
            <a:prstDash val="solid"/>
          </a:ln>
        </p:spPr>
        <p:txBody>
          <a:bodyPr wrap="none" lIns="0" tIns="0" rIns="0" bIns="0" rtlCol="0" anchor="ctr">
            <a:normAutofit/>
          </a:bodyPr>
          <a:lstStyle/>
          <a:p>
            <a:pPr marL="0" indent="0" algn="ctr">
              <a:lnSpc>
                <a:spcPts val="2240"/>
              </a:lnSpc>
              <a:buNone/>
            </a:pPr>
            <a:r>
              <a:rPr lang="en-US" sz="1600" b="1" dirty="0">
                <a:solidFill>
                  <a:srgbClr val="14182B"/>
                </a:solidFill>
                <a:latin typeface="DM Sans" pitchFamily="34" charset="0"/>
                <a:ea typeface="DM Sans" pitchFamily="34" charset="-122"/>
                <a:cs typeface="DM Sans" pitchFamily="34" charset="-120"/>
              </a:rPr>
              <a:t>Column = one feature</a:t>
            </a:r>
            <a:endParaRPr lang="en-US" sz="1600" dirty="0"/>
          </a:p>
        </p:txBody>
      </p:sp>
      <p:sp>
        <p:nvSpPr>
          <p:cNvPr id="10" name="Text 7"/>
          <p:cNvSpPr/>
          <p:nvPr/>
        </p:nvSpPr>
        <p:spPr>
          <a:xfrm>
            <a:off x="5708154" y="4972943"/>
            <a:ext cx="2732782" cy="468610"/>
          </a:xfrm>
          <a:prstGeom prst="roundRect">
            <a:avLst>
              <a:gd name="adj" fmla="val 50000"/>
            </a:avLst>
          </a:prstGeom>
          <a:solidFill>
            <a:srgbClr val="FFFDF8"/>
          </a:solidFill>
          <a:ln w="6350">
            <a:solidFill>
              <a:srgbClr val="D9D3C2"/>
            </a:solidFill>
            <a:prstDash val="solid"/>
          </a:ln>
        </p:spPr>
        <p:txBody>
          <a:bodyPr wrap="none" lIns="0" tIns="0" rIns="0" bIns="0" rtlCol="0" anchor="ctr">
            <a:normAutofit/>
          </a:bodyPr>
          <a:lstStyle/>
          <a:p>
            <a:pPr marL="0" indent="0" algn="ctr">
              <a:lnSpc>
                <a:spcPts val="2240"/>
              </a:lnSpc>
              <a:buNone/>
            </a:pPr>
            <a:r>
              <a:rPr lang="en-US" sz="1600" b="1" dirty="0">
                <a:solidFill>
                  <a:srgbClr val="14182B"/>
                </a:solidFill>
                <a:latin typeface="DM Sans" pitchFamily="34" charset="0"/>
                <a:ea typeface="DM Sans" pitchFamily="34" charset="-122"/>
                <a:cs typeface="DM Sans" pitchFamily="34" charset="-120"/>
              </a:rPr>
              <a:t>Label = what we predict</a:t>
            </a:r>
            <a:endParaRPr lang="en-US" sz="16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Toy data for illustration · Intro to Machine Learning · Weeks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An image is a list of numbers</a:t>
            </a:r>
            <a:endParaRPr lang="en-US" sz="3600" dirty="0"/>
          </a:p>
        </p:txBody>
      </p:sp>
      <p:sp>
        <p:nvSpPr>
          <p:cNvPr id="3" name="Shape 1"/>
          <p:cNvSpPr/>
          <p:nvPr/>
        </p:nvSpPr>
        <p:spPr>
          <a:xfrm>
            <a:off x="815975" y="1572816"/>
            <a:ext cx="3321645" cy="3531791"/>
          </a:xfrm>
          <a:prstGeom prst="roundRect">
            <a:avLst>
              <a:gd name="adj" fmla="val 4493"/>
            </a:avLst>
          </a:prstGeom>
          <a:solidFill>
            <a:srgbClr val="FFFDF8"/>
          </a:solidFill>
          <a:ln w="6350">
            <a:solidFill>
              <a:srgbClr val="D9D3C2"/>
            </a:solidFill>
            <a:prstDash val="solid"/>
          </a:ln>
        </p:spPr>
        <p:txBody>
          <a:bodyPr/>
          <a:lstStyle/>
          <a:p>
            <a:endParaRPr lang="en-US"/>
          </a:p>
        </p:txBody>
      </p:sp>
      <p:pic>
        <p:nvPicPr>
          <p:cNvPr id="6" name="Image 1" descr="arrow-right"/>
          <p:cNvPicPr>
            <a:picLocks noChangeAspect="1"/>
          </p:cNvPicPr>
          <p:nvPr/>
        </p:nvPicPr>
        <p:blipFill>
          <a:blip r:embed="rId3"/>
          <a:srcRect/>
          <a:stretch/>
        </p:blipFill>
        <p:spPr>
          <a:xfrm>
            <a:off x="4343995" y="3224411"/>
            <a:ext cx="406400" cy="228600"/>
          </a:xfrm>
          <a:prstGeom prst="rect">
            <a:avLst/>
          </a:prstGeom>
        </p:spPr>
      </p:pic>
      <p:sp>
        <p:nvSpPr>
          <p:cNvPr id="7" name="Shape 3"/>
          <p:cNvSpPr/>
          <p:nvPr/>
        </p:nvSpPr>
        <p:spPr>
          <a:xfrm>
            <a:off x="4956770" y="1920776"/>
            <a:ext cx="6419255" cy="2835771"/>
          </a:xfrm>
          <a:prstGeom prst="roundRect">
            <a:avLst>
              <a:gd name="adj" fmla="val 5262"/>
            </a:avLst>
          </a:prstGeom>
          <a:solidFill>
            <a:srgbClr val="FFFDF8"/>
          </a:solidFill>
          <a:ln w="6350">
            <a:solidFill>
              <a:srgbClr val="D9D3C2"/>
            </a:solidFill>
            <a:prstDash val="solid"/>
          </a:ln>
        </p:spPr>
        <p:txBody>
          <a:bodyPr/>
          <a:lstStyle/>
          <a:p>
            <a:endParaRPr lang="en-US"/>
          </a:p>
        </p:txBody>
      </p:sp>
      <p:sp>
        <p:nvSpPr>
          <p:cNvPr id="8" name="Text 4"/>
          <p:cNvSpPr/>
          <p:nvPr/>
        </p:nvSpPr>
        <p:spPr>
          <a:xfrm>
            <a:off x="5213945" y="2177951"/>
            <a:ext cx="608205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5BEA"/>
                </a:solidFill>
                <a:latin typeface="DM Sans" pitchFamily="34" charset="0"/>
                <a:ea typeface="DM Sans" pitchFamily="34" charset="-122"/>
                <a:cs typeface="DM Sans" pitchFamily="34" charset="-120"/>
              </a:rPr>
              <a:t>FLATTEN INTO ONE ROW</a:t>
            </a:r>
            <a:endParaRPr lang="en-US" sz="1200" dirty="0"/>
          </a:p>
        </p:txBody>
      </p:sp>
      <p:sp>
        <p:nvSpPr>
          <p:cNvPr id="9" name="Text 5"/>
          <p:cNvSpPr/>
          <p:nvPr/>
        </p:nvSpPr>
        <p:spPr>
          <a:xfrm>
            <a:off x="5213945" y="2518271"/>
            <a:ext cx="608205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JetBrains Mono" pitchFamily="49" charset="0"/>
                <a:ea typeface="JetBrains Mono" pitchFamily="49" charset="-122"/>
                <a:cs typeface="JetBrains Mono" pitchFamily="49" charset="-120"/>
              </a:rPr>
              <a:t>[0, 0, 0, 0, 1, 1, 0, 0, …]</a:t>
            </a:r>
            <a:endParaRPr lang="en-US" sz="1600" dirty="0"/>
          </a:p>
        </p:txBody>
      </p:sp>
      <p:sp>
        <p:nvSpPr>
          <p:cNvPr id="10" name="Text 6"/>
          <p:cNvSpPr/>
          <p:nvPr/>
        </p:nvSpPr>
        <p:spPr>
          <a:xfrm>
            <a:off x="5213945" y="2929731"/>
            <a:ext cx="6082052" cy="772120"/>
          </a:xfrm>
          <a:prstGeom prst="rect">
            <a:avLst/>
          </a:prstGeom>
          <a:noFill/>
          <a:ln/>
        </p:spPr>
        <p:txBody>
          <a:bodyPr wrap="square" lIns="0" tIns="0" rIns="0" bIns="0" rtlCol="0" anchor="t">
            <a:normAutofit/>
          </a:bodyPr>
          <a:lstStyle/>
          <a:p>
            <a:pPr marL="0" indent="0" algn="l">
              <a:lnSpc>
                <a:spcPts val="5880"/>
              </a:lnSpc>
              <a:buNone/>
            </a:pPr>
            <a:r>
              <a:rPr lang="en-US" sz="5600" b="1" kern="0" spc="-100" dirty="0">
                <a:solidFill>
                  <a:srgbClr val="2F5BEA"/>
                </a:solidFill>
                <a:latin typeface="DM Sans" pitchFamily="34" charset="0"/>
                <a:ea typeface="DM Sans" pitchFamily="34" charset="-122"/>
                <a:cs typeface="DM Sans" pitchFamily="34" charset="-120"/>
              </a:rPr>
              <a:t>784</a:t>
            </a:r>
            <a:endParaRPr lang="en-US" sz="5600" dirty="0"/>
          </a:p>
        </p:txBody>
      </p:sp>
      <p:sp>
        <p:nvSpPr>
          <p:cNvPr id="11" name="Text 7"/>
          <p:cNvSpPr/>
          <p:nvPr/>
        </p:nvSpPr>
        <p:spPr>
          <a:xfrm>
            <a:off x="5213945" y="3803452"/>
            <a:ext cx="608205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features per image in MNIST (28 × 28 pixels)</a:t>
            </a:r>
            <a:endParaRPr lang="en-US" sz="1600" dirty="0"/>
          </a:p>
        </p:txBody>
      </p:sp>
      <p:sp>
        <p:nvSpPr>
          <p:cNvPr id="12" name="Text 8"/>
          <p:cNvSpPr/>
          <p:nvPr/>
        </p:nvSpPr>
        <p:spPr>
          <a:xfrm>
            <a:off x="5213945" y="4214912"/>
            <a:ext cx="608205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Label y = the digit, 0 to 9</a:t>
            </a:r>
            <a:endParaRPr lang="en-US" sz="1600" dirty="0"/>
          </a:p>
        </p:txBody>
      </p:sp>
      <p:sp>
        <p:nvSpPr>
          <p:cNvPr id="13" name="Text 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MNIST: handwritten digits</a:t>
            </a:r>
            <a:endParaRPr lang="en-US" sz="1200" dirty="0"/>
          </a:p>
        </p:txBody>
      </p:sp>
      <p:pic>
        <p:nvPicPr>
          <p:cNvPr id="14" name="Picture 13" descr="Image examples from MNIST dataset. | Download Scientific Diagram">
            <a:extLst>
              <a:ext uri="{FF2B5EF4-FFF2-40B4-BE49-F238E27FC236}">
                <a16:creationId xmlns:a16="http://schemas.microsoft.com/office/drawing/2014/main" id="{BA5AAE37-B695-9AFC-6CAC-10B04FC1591B}"/>
              </a:ext>
            </a:extLst>
          </p:cNvPr>
          <p:cNvPicPr>
            <a:picLocks noChangeAspect="1"/>
          </p:cNvPicPr>
          <p:nvPr/>
        </p:nvPicPr>
        <p:blipFill>
          <a:blip r:embed="rId4"/>
          <a:stretch>
            <a:fillRect/>
          </a:stretch>
        </p:blipFill>
        <p:spPr>
          <a:xfrm>
            <a:off x="1108372" y="1899361"/>
            <a:ext cx="2736850" cy="28785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Three kinds of problems</a:t>
            </a:r>
            <a:endParaRPr lang="en-US" sz="3600" dirty="0"/>
          </a:p>
        </p:txBody>
      </p:sp>
      <p:sp>
        <p:nvSpPr>
          <p:cNvPr id="3" name="Shape 1"/>
          <p:cNvSpPr/>
          <p:nvPr/>
        </p:nvSpPr>
        <p:spPr>
          <a:xfrm>
            <a:off x="815975" y="1572816"/>
            <a:ext cx="3380284" cy="3611761"/>
          </a:xfrm>
          <a:prstGeom prst="roundRect">
            <a:avLst>
              <a:gd name="adj" fmla="val 4415"/>
            </a:avLst>
          </a:prstGeom>
          <a:solidFill>
            <a:srgbClr val="FFFDF8"/>
          </a:solidFill>
          <a:ln w="6350">
            <a:solidFill>
              <a:srgbClr val="D9D3C2"/>
            </a:solidFill>
            <a:prstDash val="solid"/>
          </a:ln>
        </p:spPr>
        <p:txBody>
          <a:bodyPr/>
          <a:lstStyle/>
          <a:p>
            <a:endParaRPr lang="en-US"/>
          </a:p>
        </p:txBody>
      </p:sp>
      <p:pic>
        <p:nvPicPr>
          <p:cNvPr id="4" name="Image 0" descr="Scatter plot of points rising to the right with an orange fitted line"/>
          <p:cNvPicPr>
            <a:picLocks noChangeAspect="1"/>
          </p:cNvPicPr>
          <p:nvPr/>
        </p:nvPicPr>
        <p:blipFill>
          <a:blip r:embed="rId3"/>
          <a:srcRect/>
          <a:stretch/>
        </p:blipFill>
        <p:spPr>
          <a:xfrm>
            <a:off x="1022350" y="1779191"/>
            <a:ext cx="2876550" cy="1714500"/>
          </a:xfrm>
          <a:prstGeom prst="rect">
            <a:avLst/>
          </a:prstGeom>
        </p:spPr>
      </p:pic>
      <p:sp>
        <p:nvSpPr>
          <p:cNvPr id="5" name="Text 2"/>
          <p:cNvSpPr/>
          <p:nvPr/>
        </p:nvSpPr>
        <p:spPr>
          <a:xfrm>
            <a:off x="1022350" y="3569891"/>
            <a:ext cx="2967534" cy="289520"/>
          </a:xfrm>
          <a:custGeom>
            <a:avLst/>
            <a:gdLst/>
            <a:ahLst/>
            <a:cxnLst/>
            <a:rect l="l" t="t" r="r" b="b"/>
            <a:pathLst>
              <a:path w="2967534" h="289520">
                <a:moveTo>
                  <a:pt x="144760" y="0"/>
                </a:moveTo>
                <a:lnTo>
                  <a:pt x="2822773" y="0"/>
                </a:lnTo>
                <a:arcTo wR="144760" hR="144760" stAng="16200000" swAng="5400000"/>
                <a:lnTo>
                  <a:pt x="2967534" y="144760"/>
                </a:lnTo>
                <a:arcTo wR="144760" hR="144760" stAng="0" swAng="5400000"/>
                <a:lnTo>
                  <a:pt x="144760" y="289520"/>
                </a:lnTo>
                <a:arcTo wR="144760" hR="144760" stAng="5400000" swAng="5400000"/>
                <a:lnTo>
                  <a:pt x="0" y="144760"/>
                </a:lnTo>
                <a:arcTo wR="144760" hR="144760" stAng="10800000" swAng="5400000"/>
                <a:close/>
              </a:path>
            </a:pathLst>
          </a:custGeom>
          <a:solidFill>
            <a:srgbClr val="ECE6D6"/>
          </a:solidFill>
          <a:ln/>
        </p:spPr>
        <p:txBody>
          <a:bodyPr wrap="square" lIns="127000" tIns="38100" rIns="45594" bIns="12700" rtlCol="0" anchor="t">
            <a:normAutofit/>
          </a:bodyPr>
          <a:lstStyle/>
          <a:p>
            <a:pPr marL="0" indent="0" algn="l">
              <a:lnSpc>
                <a:spcPts val="1680"/>
              </a:lnSpc>
              <a:buNone/>
            </a:pPr>
            <a:r>
              <a:rPr lang="en-US" sz="1200" b="1" dirty="0">
                <a:solidFill>
                  <a:srgbClr val="14182B"/>
                </a:solidFill>
                <a:latin typeface="DM Sans" pitchFamily="34" charset="0"/>
                <a:ea typeface="DM Sans" pitchFamily="34" charset="-122"/>
                <a:cs typeface="DM Sans" pitchFamily="34" charset="-120"/>
              </a:rPr>
              <a:t>Supervised</a:t>
            </a:r>
            <a:endParaRPr lang="en-US" sz="1200" dirty="0"/>
          </a:p>
        </p:txBody>
      </p:sp>
      <p:sp>
        <p:nvSpPr>
          <p:cNvPr id="6" name="Text 3"/>
          <p:cNvSpPr/>
          <p:nvPr/>
        </p:nvSpPr>
        <p:spPr>
          <a:xfrm>
            <a:off x="1022350" y="3935611"/>
            <a:ext cx="305656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Regression</a:t>
            </a:r>
            <a:endParaRPr lang="en-US" sz="2200" dirty="0"/>
          </a:p>
        </p:txBody>
      </p:sp>
      <p:sp>
        <p:nvSpPr>
          <p:cNvPr id="7" name="Text 4"/>
          <p:cNvSpPr/>
          <p:nvPr/>
        </p:nvSpPr>
        <p:spPr>
          <a:xfrm>
            <a:off x="1022350" y="4333081"/>
            <a:ext cx="305656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Predict a number</a:t>
            </a:r>
            <a:endParaRPr lang="en-US" sz="1600" dirty="0"/>
          </a:p>
        </p:txBody>
      </p:sp>
      <p:sp>
        <p:nvSpPr>
          <p:cNvPr id="8" name="Text 5"/>
          <p:cNvSpPr/>
          <p:nvPr/>
        </p:nvSpPr>
        <p:spPr>
          <a:xfrm>
            <a:off x="1022350" y="4693741"/>
            <a:ext cx="305656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House price, temperature</a:t>
            </a:r>
            <a:endParaRPr lang="en-US" sz="1600" dirty="0"/>
          </a:p>
        </p:txBody>
      </p:sp>
      <p:sp>
        <p:nvSpPr>
          <p:cNvPr id="9" name="Shape 6"/>
          <p:cNvSpPr/>
          <p:nvPr/>
        </p:nvSpPr>
        <p:spPr>
          <a:xfrm>
            <a:off x="4405809" y="1572816"/>
            <a:ext cx="3380383" cy="3611761"/>
          </a:xfrm>
          <a:prstGeom prst="roundRect">
            <a:avLst>
              <a:gd name="adj" fmla="val 4414"/>
            </a:avLst>
          </a:prstGeom>
          <a:solidFill>
            <a:srgbClr val="FFFDF8"/>
          </a:solidFill>
          <a:ln w="6350">
            <a:solidFill>
              <a:srgbClr val="D9D3C2"/>
            </a:solidFill>
            <a:prstDash val="solid"/>
          </a:ln>
        </p:spPr>
        <p:txBody>
          <a:bodyPr/>
          <a:lstStyle/>
          <a:p>
            <a:endParaRPr lang="en-US"/>
          </a:p>
        </p:txBody>
      </p:sp>
      <p:pic>
        <p:nvPicPr>
          <p:cNvPr id="10" name="Image 1" descr="Blue circles on the left and orange squares on the right separated by a dashed line"/>
          <p:cNvPicPr>
            <a:picLocks noChangeAspect="1"/>
          </p:cNvPicPr>
          <p:nvPr/>
        </p:nvPicPr>
        <p:blipFill>
          <a:blip r:embed="rId4"/>
          <a:srcRect/>
          <a:stretch/>
        </p:blipFill>
        <p:spPr>
          <a:xfrm>
            <a:off x="4612184" y="1779191"/>
            <a:ext cx="2876550" cy="1714500"/>
          </a:xfrm>
          <a:prstGeom prst="rect">
            <a:avLst/>
          </a:prstGeom>
        </p:spPr>
      </p:pic>
      <p:sp>
        <p:nvSpPr>
          <p:cNvPr id="11" name="Text 7"/>
          <p:cNvSpPr/>
          <p:nvPr/>
        </p:nvSpPr>
        <p:spPr>
          <a:xfrm>
            <a:off x="4612184" y="3569891"/>
            <a:ext cx="2967633" cy="289520"/>
          </a:xfrm>
          <a:custGeom>
            <a:avLst/>
            <a:gdLst/>
            <a:ahLst/>
            <a:cxnLst/>
            <a:rect l="l" t="t" r="r" b="b"/>
            <a:pathLst>
              <a:path w="2967633" h="289520">
                <a:moveTo>
                  <a:pt x="144760" y="0"/>
                </a:moveTo>
                <a:lnTo>
                  <a:pt x="2822873" y="0"/>
                </a:lnTo>
                <a:arcTo wR="144760" hR="144760" stAng="16200000" swAng="5400000"/>
                <a:lnTo>
                  <a:pt x="2967633" y="144760"/>
                </a:lnTo>
                <a:arcTo wR="144760" hR="144760" stAng="0" swAng="5400000"/>
                <a:lnTo>
                  <a:pt x="144760" y="289520"/>
                </a:lnTo>
                <a:arcTo wR="144760" hR="144760" stAng="5400000" swAng="5400000"/>
                <a:lnTo>
                  <a:pt x="0" y="144760"/>
                </a:lnTo>
                <a:arcTo wR="144760" hR="144760" stAng="10800000" swAng="5400000"/>
                <a:close/>
              </a:path>
            </a:pathLst>
          </a:custGeom>
          <a:solidFill>
            <a:srgbClr val="ECE6D6"/>
          </a:solidFill>
          <a:ln/>
        </p:spPr>
        <p:txBody>
          <a:bodyPr wrap="square" lIns="127000" tIns="38100" rIns="45591" bIns="12700" rtlCol="0" anchor="t">
            <a:normAutofit/>
          </a:bodyPr>
          <a:lstStyle/>
          <a:p>
            <a:pPr marL="0" indent="0" algn="l">
              <a:lnSpc>
                <a:spcPts val="1680"/>
              </a:lnSpc>
              <a:buNone/>
            </a:pPr>
            <a:r>
              <a:rPr lang="en-US" sz="1200" b="1" dirty="0">
                <a:solidFill>
                  <a:srgbClr val="14182B"/>
                </a:solidFill>
                <a:latin typeface="DM Sans" pitchFamily="34" charset="0"/>
                <a:ea typeface="DM Sans" pitchFamily="34" charset="-122"/>
                <a:cs typeface="DM Sans" pitchFamily="34" charset="-120"/>
              </a:rPr>
              <a:t>Supervised</a:t>
            </a:r>
            <a:endParaRPr lang="en-US" sz="1200" dirty="0"/>
          </a:p>
        </p:txBody>
      </p:sp>
      <p:sp>
        <p:nvSpPr>
          <p:cNvPr id="12" name="Text 8"/>
          <p:cNvSpPr/>
          <p:nvPr/>
        </p:nvSpPr>
        <p:spPr>
          <a:xfrm>
            <a:off x="4612184" y="3935611"/>
            <a:ext cx="305666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Classification</a:t>
            </a:r>
            <a:endParaRPr lang="en-US" sz="2200" dirty="0"/>
          </a:p>
        </p:txBody>
      </p:sp>
      <p:sp>
        <p:nvSpPr>
          <p:cNvPr id="13" name="Text 9"/>
          <p:cNvSpPr/>
          <p:nvPr/>
        </p:nvSpPr>
        <p:spPr>
          <a:xfrm>
            <a:off x="4612184" y="4333081"/>
            <a:ext cx="305666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Predict a category</a:t>
            </a:r>
            <a:endParaRPr lang="en-US" sz="1600" dirty="0"/>
          </a:p>
        </p:txBody>
      </p:sp>
      <p:sp>
        <p:nvSpPr>
          <p:cNvPr id="14" name="Text 10"/>
          <p:cNvSpPr/>
          <p:nvPr/>
        </p:nvSpPr>
        <p:spPr>
          <a:xfrm>
            <a:off x="4612184" y="4693741"/>
            <a:ext cx="305666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Spam or not, digit 0–9</a:t>
            </a:r>
            <a:endParaRPr lang="en-US" sz="1600" dirty="0"/>
          </a:p>
        </p:txBody>
      </p:sp>
      <p:sp>
        <p:nvSpPr>
          <p:cNvPr id="15" name="Shape 11"/>
          <p:cNvSpPr/>
          <p:nvPr/>
        </p:nvSpPr>
        <p:spPr>
          <a:xfrm>
            <a:off x="7995741" y="1572816"/>
            <a:ext cx="3380284" cy="3611761"/>
          </a:xfrm>
          <a:prstGeom prst="roundRect">
            <a:avLst>
              <a:gd name="adj" fmla="val 4415"/>
            </a:avLst>
          </a:prstGeom>
          <a:solidFill>
            <a:srgbClr val="FFFDF8"/>
          </a:solidFill>
          <a:ln w="6350">
            <a:solidFill>
              <a:srgbClr val="D9D3C2"/>
            </a:solidFill>
            <a:prstDash val="solid"/>
          </a:ln>
        </p:spPr>
        <p:txBody>
          <a:bodyPr/>
          <a:lstStyle/>
          <a:p>
            <a:endParaRPr lang="en-US"/>
          </a:p>
        </p:txBody>
      </p:sp>
      <p:pic>
        <p:nvPicPr>
          <p:cNvPr id="16" name="Image 2" descr="Three groups of gray dots, each circled by a dashed blue outline"/>
          <p:cNvPicPr>
            <a:picLocks noChangeAspect="1"/>
          </p:cNvPicPr>
          <p:nvPr/>
        </p:nvPicPr>
        <p:blipFill>
          <a:blip r:embed="rId5"/>
          <a:srcRect/>
          <a:stretch/>
        </p:blipFill>
        <p:spPr>
          <a:xfrm>
            <a:off x="8202116" y="1779191"/>
            <a:ext cx="2876550" cy="1714500"/>
          </a:xfrm>
          <a:prstGeom prst="rect">
            <a:avLst/>
          </a:prstGeom>
        </p:spPr>
      </p:pic>
      <p:sp>
        <p:nvSpPr>
          <p:cNvPr id="17" name="Text 12"/>
          <p:cNvSpPr/>
          <p:nvPr/>
        </p:nvSpPr>
        <p:spPr>
          <a:xfrm>
            <a:off x="8202116" y="3569891"/>
            <a:ext cx="2967534" cy="289520"/>
          </a:xfrm>
          <a:custGeom>
            <a:avLst/>
            <a:gdLst/>
            <a:ahLst/>
            <a:cxnLst/>
            <a:rect l="l" t="t" r="r" b="b"/>
            <a:pathLst>
              <a:path w="2967534" h="289520">
                <a:moveTo>
                  <a:pt x="144760" y="0"/>
                </a:moveTo>
                <a:lnTo>
                  <a:pt x="2822773" y="0"/>
                </a:lnTo>
                <a:arcTo wR="144760" hR="144760" stAng="16200000" swAng="5400000"/>
                <a:lnTo>
                  <a:pt x="2967534" y="144760"/>
                </a:lnTo>
                <a:arcTo wR="144760" hR="144760" stAng="0" swAng="5400000"/>
                <a:lnTo>
                  <a:pt x="144760" y="289520"/>
                </a:lnTo>
                <a:arcTo wR="144760" hR="144760" stAng="5400000" swAng="5400000"/>
                <a:lnTo>
                  <a:pt x="0" y="144760"/>
                </a:lnTo>
                <a:arcTo wR="144760" hR="144760" stAng="10800000" swAng="5400000"/>
                <a:close/>
              </a:path>
            </a:pathLst>
          </a:custGeom>
          <a:solidFill>
            <a:srgbClr val="ECE6D6"/>
          </a:solidFill>
          <a:ln/>
        </p:spPr>
        <p:txBody>
          <a:bodyPr wrap="square" lIns="127000" tIns="38100" rIns="45594" bIns="12700" rtlCol="0" anchor="t">
            <a:normAutofit/>
          </a:bodyPr>
          <a:lstStyle/>
          <a:p>
            <a:pPr marL="0" indent="0" algn="l">
              <a:lnSpc>
                <a:spcPts val="1680"/>
              </a:lnSpc>
              <a:buNone/>
            </a:pPr>
            <a:r>
              <a:rPr lang="en-US" sz="1200" b="1" dirty="0">
                <a:solidFill>
                  <a:srgbClr val="14182B"/>
                </a:solidFill>
                <a:latin typeface="DM Sans" pitchFamily="34" charset="0"/>
                <a:ea typeface="DM Sans" pitchFamily="34" charset="-122"/>
                <a:cs typeface="DM Sans" pitchFamily="34" charset="-120"/>
              </a:rPr>
              <a:t>Unsupervised</a:t>
            </a:r>
            <a:endParaRPr lang="en-US" sz="1200" dirty="0"/>
          </a:p>
        </p:txBody>
      </p:sp>
      <p:sp>
        <p:nvSpPr>
          <p:cNvPr id="18" name="Text 13"/>
          <p:cNvSpPr/>
          <p:nvPr/>
        </p:nvSpPr>
        <p:spPr>
          <a:xfrm>
            <a:off x="8202116" y="3935611"/>
            <a:ext cx="305656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Clustering</a:t>
            </a:r>
            <a:endParaRPr lang="en-US" sz="2200" dirty="0"/>
          </a:p>
        </p:txBody>
      </p:sp>
      <p:sp>
        <p:nvSpPr>
          <p:cNvPr id="19" name="Text 14"/>
          <p:cNvSpPr/>
          <p:nvPr/>
        </p:nvSpPr>
        <p:spPr>
          <a:xfrm>
            <a:off x="8202116" y="4333081"/>
            <a:ext cx="305656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Find groups, no labels</a:t>
            </a:r>
            <a:endParaRPr lang="en-US" sz="1600" dirty="0"/>
          </a:p>
        </p:txBody>
      </p:sp>
      <p:sp>
        <p:nvSpPr>
          <p:cNvPr id="20" name="Text 15"/>
          <p:cNvSpPr/>
          <p:nvPr/>
        </p:nvSpPr>
        <p:spPr>
          <a:xfrm>
            <a:off x="8202116" y="4693741"/>
            <a:ext cx="305656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Customer segments</a:t>
            </a:r>
            <a:endParaRPr lang="en-US" sz="1600" dirty="0"/>
          </a:p>
        </p:txBody>
      </p:sp>
      <p:sp>
        <p:nvSpPr>
          <p:cNvPr id="21" name="Text 1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Intro to Machine Learning · Weeks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Learning and inference</a:t>
            </a:r>
            <a:endParaRPr lang="en-US" sz="3600" dirty="0"/>
          </a:p>
        </p:txBody>
      </p:sp>
      <p:sp>
        <p:nvSpPr>
          <p:cNvPr id="3" name="Shape 1"/>
          <p:cNvSpPr/>
          <p:nvPr/>
        </p:nvSpPr>
        <p:spPr>
          <a:xfrm>
            <a:off x="815975" y="1572816"/>
            <a:ext cx="5175250" cy="1515070"/>
          </a:xfrm>
          <a:prstGeom prst="roundRect">
            <a:avLst>
              <a:gd name="adj" fmla="val 9849"/>
            </a:avLst>
          </a:prstGeom>
          <a:solidFill>
            <a:srgbClr val="FFFDF8"/>
          </a:solidFill>
          <a:ln w="6350">
            <a:solidFill>
              <a:srgbClr val="D9D3C2"/>
            </a:solidFill>
            <a:prstDash val="solid"/>
          </a:ln>
        </p:spPr>
        <p:txBody>
          <a:bodyPr/>
          <a:lstStyle/>
          <a:p>
            <a:endParaRPr lang="en-US"/>
          </a:p>
        </p:txBody>
      </p:sp>
      <p:sp>
        <p:nvSpPr>
          <p:cNvPr id="4" name="Text 2"/>
          <p:cNvSpPr/>
          <p:nvPr/>
        </p:nvSpPr>
        <p:spPr>
          <a:xfrm>
            <a:off x="1022350" y="1779191"/>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5BEA"/>
                </a:solidFill>
                <a:latin typeface="DM Sans" pitchFamily="34" charset="0"/>
                <a:ea typeface="DM Sans" pitchFamily="34" charset="-122"/>
                <a:cs typeface="DM Sans" pitchFamily="34" charset="-120"/>
              </a:rPr>
              <a:t>LEARNING (TRAINING)</a:t>
            </a:r>
            <a:endParaRPr lang="en-US" sz="1200" dirty="0"/>
          </a:p>
        </p:txBody>
      </p:sp>
      <p:sp>
        <p:nvSpPr>
          <p:cNvPr id="5" name="Text 3"/>
          <p:cNvSpPr/>
          <p:nvPr/>
        </p:nvSpPr>
        <p:spPr>
          <a:xfrm>
            <a:off x="1022350" y="2119511"/>
            <a:ext cx="1316534" cy="762000"/>
          </a:xfrm>
          <a:custGeom>
            <a:avLst/>
            <a:gdLst/>
            <a:ahLst/>
            <a:cxnLst/>
            <a:rect l="l" t="t" r="r" b="b"/>
            <a:pathLst>
              <a:path w="1316534" h="762000">
                <a:moveTo>
                  <a:pt x="101600" y="0"/>
                </a:moveTo>
                <a:lnTo>
                  <a:pt x="1214934" y="0"/>
                </a:lnTo>
                <a:arcTo wR="101600" hR="101600" stAng="16200000" swAng="5400000"/>
                <a:lnTo>
                  <a:pt x="1316534" y="660400"/>
                </a:lnTo>
                <a:arcTo wR="101600" hR="101600" stAng="0" swAng="5400000"/>
                <a:lnTo>
                  <a:pt x="101600" y="762000"/>
                </a:lnTo>
                <a:arcTo wR="101600" hR="101600" stAng="5400000" swAng="5400000"/>
                <a:lnTo>
                  <a:pt x="0" y="101600"/>
                </a:lnTo>
                <a:arcTo wR="101600" hR="101600" stAng="10800000" swAng="5400000"/>
                <a:close/>
              </a:path>
            </a:pathLst>
          </a:custGeom>
          <a:solidFill>
            <a:srgbClr val="ECE6D6"/>
          </a:solidFill>
          <a:ln/>
        </p:spPr>
        <p:txBody>
          <a:bodyPr wrap="square" lIns="50800" tIns="127000" rIns="50800" bIns="101600" rtlCol="0" anchor="t">
            <a:normAutofit/>
          </a:bodyPr>
          <a:lstStyle/>
          <a:p>
            <a:pPr marL="0" indent="0" algn="ctr">
              <a:lnSpc>
                <a:spcPts val="2000"/>
              </a:lnSpc>
              <a:buNone/>
            </a:pPr>
            <a:r>
              <a:rPr lang="en-US" sz="1600" b="1" dirty="0">
                <a:solidFill>
                  <a:srgbClr val="14182B"/>
                </a:solidFill>
                <a:latin typeface="DM Sans" pitchFamily="34" charset="0"/>
                <a:ea typeface="DM Sans" pitchFamily="34" charset="-122"/>
                <a:cs typeface="DM Sans" pitchFamily="34" charset="-120"/>
              </a:rPr>
              <a:t>Labeled examples</a:t>
            </a:r>
            <a:endParaRPr lang="en-US" sz="1600" dirty="0"/>
          </a:p>
        </p:txBody>
      </p:sp>
      <p:pic>
        <p:nvPicPr>
          <p:cNvPr id="6" name="Image 0" descr="arrow-right"/>
          <p:cNvPicPr>
            <a:picLocks noChangeAspect="1"/>
          </p:cNvPicPr>
          <p:nvPr/>
        </p:nvPicPr>
        <p:blipFill>
          <a:blip r:embed="rId3"/>
          <a:srcRect/>
          <a:stretch/>
        </p:blipFill>
        <p:spPr>
          <a:xfrm>
            <a:off x="2415084" y="2424311"/>
            <a:ext cx="254000" cy="152400"/>
          </a:xfrm>
          <a:prstGeom prst="rect">
            <a:avLst/>
          </a:prstGeom>
        </p:spPr>
      </p:pic>
      <p:sp>
        <p:nvSpPr>
          <p:cNvPr id="7" name="Text 4"/>
          <p:cNvSpPr/>
          <p:nvPr/>
        </p:nvSpPr>
        <p:spPr>
          <a:xfrm>
            <a:off x="2745284" y="2119511"/>
            <a:ext cx="1316633" cy="762000"/>
          </a:xfrm>
          <a:custGeom>
            <a:avLst/>
            <a:gdLst/>
            <a:ahLst/>
            <a:cxnLst/>
            <a:rect l="l" t="t" r="r" b="b"/>
            <a:pathLst>
              <a:path w="1316633" h="762000">
                <a:moveTo>
                  <a:pt x="101600" y="0"/>
                </a:moveTo>
                <a:lnTo>
                  <a:pt x="1215033" y="0"/>
                </a:lnTo>
                <a:arcTo wR="101600" hR="101600" stAng="16200000" swAng="5400000"/>
                <a:lnTo>
                  <a:pt x="1316633" y="660400"/>
                </a:lnTo>
                <a:arcTo wR="101600" hR="101600" stAng="0" swAng="5400000"/>
                <a:lnTo>
                  <a:pt x="101600" y="762000"/>
                </a:lnTo>
                <a:arcTo wR="101600" hR="101600" stAng="5400000" swAng="5400000"/>
                <a:lnTo>
                  <a:pt x="0" y="101600"/>
                </a:lnTo>
                <a:arcTo wR="101600" hR="101600" stAng="10800000" swAng="5400000"/>
                <a:close/>
              </a:path>
            </a:pathLst>
          </a:custGeom>
          <a:solidFill>
            <a:srgbClr val="14182B"/>
          </a:solidFill>
          <a:ln/>
        </p:spPr>
        <p:txBody>
          <a:bodyPr wrap="square" lIns="50800" tIns="127000" rIns="50800" bIns="101600" rtlCol="0" anchor="t">
            <a:normAutofit/>
          </a:bodyPr>
          <a:lstStyle/>
          <a:p>
            <a:pPr marL="0" indent="0" algn="ctr">
              <a:lnSpc>
                <a:spcPts val="2000"/>
              </a:lnSpc>
              <a:buNone/>
            </a:pPr>
            <a:r>
              <a:rPr lang="en-US" sz="1600" b="1" dirty="0">
                <a:solidFill>
                  <a:srgbClr val="F5F2EA"/>
                </a:solidFill>
                <a:latin typeface="DM Sans" pitchFamily="34" charset="0"/>
                <a:ea typeface="DM Sans" pitchFamily="34" charset="-122"/>
                <a:cs typeface="DM Sans" pitchFamily="34" charset="-120"/>
              </a:rPr>
              <a:t>ML algorithm</a:t>
            </a:r>
            <a:endParaRPr lang="en-US" sz="1600" dirty="0"/>
          </a:p>
        </p:txBody>
      </p:sp>
      <p:pic>
        <p:nvPicPr>
          <p:cNvPr id="8" name="Image 1" descr="arrow-right"/>
          <p:cNvPicPr>
            <a:picLocks noChangeAspect="1"/>
          </p:cNvPicPr>
          <p:nvPr/>
        </p:nvPicPr>
        <p:blipFill>
          <a:blip r:embed="rId3"/>
          <a:srcRect/>
          <a:stretch/>
        </p:blipFill>
        <p:spPr>
          <a:xfrm>
            <a:off x="4138116" y="2424311"/>
            <a:ext cx="254000" cy="152400"/>
          </a:xfrm>
          <a:prstGeom prst="rect">
            <a:avLst/>
          </a:prstGeom>
        </p:spPr>
      </p:pic>
      <p:sp>
        <p:nvSpPr>
          <p:cNvPr id="9" name="Text 5"/>
          <p:cNvSpPr/>
          <p:nvPr/>
        </p:nvSpPr>
        <p:spPr>
          <a:xfrm>
            <a:off x="4468316" y="2246511"/>
            <a:ext cx="1316534" cy="508000"/>
          </a:xfrm>
          <a:custGeom>
            <a:avLst/>
            <a:gdLst/>
            <a:ahLst/>
            <a:cxnLst/>
            <a:rect l="l" t="t" r="r" b="b"/>
            <a:pathLst>
              <a:path w="1316534" h="508000">
                <a:moveTo>
                  <a:pt x="101600" y="0"/>
                </a:moveTo>
                <a:lnTo>
                  <a:pt x="1214934" y="0"/>
                </a:lnTo>
                <a:arcTo wR="101600" hR="101600" stAng="16200000" swAng="5400000"/>
                <a:lnTo>
                  <a:pt x="1316534" y="406400"/>
                </a:lnTo>
                <a:arcTo wR="101600" hR="101600" stAng="0" swAng="5400000"/>
                <a:lnTo>
                  <a:pt x="101600" y="508000"/>
                </a:lnTo>
                <a:arcTo wR="101600" hR="101600" stAng="5400000" swAng="5400000"/>
                <a:lnTo>
                  <a:pt x="0" y="101600"/>
                </a:lnTo>
                <a:arcTo wR="101600" hR="101600" stAng="10800000" swAng="5400000"/>
                <a:close/>
              </a:path>
            </a:pathLst>
          </a:custGeom>
          <a:solidFill>
            <a:srgbClr val="2F5BEA"/>
          </a:solidFill>
          <a:ln/>
        </p:spPr>
        <p:txBody>
          <a:bodyPr wrap="square" lIns="50800" tIns="127000" rIns="50800" bIns="101600" rtlCol="0" anchor="t">
            <a:normAutofit/>
          </a:bodyPr>
          <a:lstStyle/>
          <a:p>
            <a:pPr marL="0" indent="0" algn="ctr">
              <a:lnSpc>
                <a:spcPts val="2000"/>
              </a:lnSpc>
              <a:buNone/>
            </a:pPr>
            <a:r>
              <a:rPr lang="en-US" sz="1600" b="1" dirty="0">
                <a:solidFill>
                  <a:srgbClr val="F5F2EA"/>
                </a:solidFill>
                <a:latin typeface="DM Sans" pitchFamily="34" charset="0"/>
                <a:ea typeface="DM Sans" pitchFamily="34" charset="-122"/>
                <a:cs typeface="DM Sans" pitchFamily="34" charset="-120"/>
              </a:rPr>
              <a:t>Model</a:t>
            </a:r>
            <a:endParaRPr lang="en-US" sz="1600" dirty="0"/>
          </a:p>
        </p:txBody>
      </p:sp>
      <p:sp>
        <p:nvSpPr>
          <p:cNvPr id="10" name="Shape 6"/>
          <p:cNvSpPr/>
          <p:nvPr/>
        </p:nvSpPr>
        <p:spPr>
          <a:xfrm>
            <a:off x="6200775" y="1572816"/>
            <a:ext cx="5175250" cy="1515070"/>
          </a:xfrm>
          <a:prstGeom prst="roundRect">
            <a:avLst>
              <a:gd name="adj" fmla="val 9849"/>
            </a:avLst>
          </a:prstGeom>
          <a:solidFill>
            <a:srgbClr val="FFFDF8"/>
          </a:solidFill>
          <a:ln w="6350">
            <a:solidFill>
              <a:srgbClr val="D9D3C2"/>
            </a:solidFill>
            <a:prstDash val="solid"/>
          </a:ln>
        </p:spPr>
        <p:txBody>
          <a:bodyPr/>
          <a:lstStyle/>
          <a:p>
            <a:endParaRPr lang="en-US"/>
          </a:p>
        </p:txBody>
      </p:sp>
      <p:sp>
        <p:nvSpPr>
          <p:cNvPr id="11" name="Text 7"/>
          <p:cNvSpPr/>
          <p:nvPr/>
        </p:nvSpPr>
        <p:spPr>
          <a:xfrm>
            <a:off x="6407150" y="1779191"/>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INFERENCE (PREDICTION)</a:t>
            </a:r>
            <a:endParaRPr lang="en-US" sz="1200" dirty="0"/>
          </a:p>
        </p:txBody>
      </p:sp>
      <p:sp>
        <p:nvSpPr>
          <p:cNvPr id="12" name="Text 8"/>
          <p:cNvSpPr/>
          <p:nvPr/>
        </p:nvSpPr>
        <p:spPr>
          <a:xfrm>
            <a:off x="6407150" y="2119511"/>
            <a:ext cx="1316534" cy="762000"/>
          </a:xfrm>
          <a:custGeom>
            <a:avLst/>
            <a:gdLst/>
            <a:ahLst/>
            <a:cxnLst/>
            <a:rect l="l" t="t" r="r" b="b"/>
            <a:pathLst>
              <a:path w="1316534" h="762000">
                <a:moveTo>
                  <a:pt x="101600" y="0"/>
                </a:moveTo>
                <a:lnTo>
                  <a:pt x="1214934" y="0"/>
                </a:lnTo>
                <a:arcTo wR="101600" hR="101600" stAng="16200000" swAng="5400000"/>
                <a:lnTo>
                  <a:pt x="1316534" y="660400"/>
                </a:lnTo>
                <a:arcTo wR="101600" hR="101600" stAng="0" swAng="5400000"/>
                <a:lnTo>
                  <a:pt x="101600" y="762000"/>
                </a:lnTo>
                <a:arcTo wR="101600" hR="101600" stAng="5400000" swAng="5400000"/>
                <a:lnTo>
                  <a:pt x="0" y="101600"/>
                </a:lnTo>
                <a:arcTo wR="101600" hR="101600" stAng="10800000" swAng="5400000"/>
                <a:close/>
              </a:path>
            </a:pathLst>
          </a:custGeom>
          <a:solidFill>
            <a:srgbClr val="ECE6D6"/>
          </a:solidFill>
          <a:ln/>
        </p:spPr>
        <p:txBody>
          <a:bodyPr wrap="square" lIns="50800" tIns="127000" rIns="50800" bIns="101600" rtlCol="0" anchor="t">
            <a:normAutofit/>
          </a:bodyPr>
          <a:lstStyle/>
          <a:p>
            <a:pPr marL="0" indent="0" algn="ctr">
              <a:lnSpc>
                <a:spcPts val="2000"/>
              </a:lnSpc>
              <a:buNone/>
            </a:pPr>
            <a:r>
              <a:rPr lang="en-US" sz="1600" b="1" dirty="0">
                <a:solidFill>
                  <a:srgbClr val="14182B"/>
                </a:solidFill>
                <a:latin typeface="DM Sans" pitchFamily="34" charset="0"/>
                <a:ea typeface="DM Sans" pitchFamily="34" charset="-122"/>
                <a:cs typeface="DM Sans" pitchFamily="34" charset="-120"/>
              </a:rPr>
              <a:t>New input x</a:t>
            </a:r>
            <a:endParaRPr lang="en-US" sz="1600" dirty="0"/>
          </a:p>
        </p:txBody>
      </p:sp>
      <p:pic>
        <p:nvPicPr>
          <p:cNvPr id="13" name="Image 2" descr="arrow-right"/>
          <p:cNvPicPr>
            <a:picLocks noChangeAspect="1"/>
          </p:cNvPicPr>
          <p:nvPr/>
        </p:nvPicPr>
        <p:blipFill>
          <a:blip r:embed="rId3"/>
          <a:srcRect/>
          <a:stretch/>
        </p:blipFill>
        <p:spPr>
          <a:xfrm>
            <a:off x="7799884" y="2424311"/>
            <a:ext cx="254000" cy="152400"/>
          </a:xfrm>
          <a:prstGeom prst="rect">
            <a:avLst/>
          </a:prstGeom>
        </p:spPr>
      </p:pic>
      <p:sp>
        <p:nvSpPr>
          <p:cNvPr id="14" name="Text 9"/>
          <p:cNvSpPr/>
          <p:nvPr/>
        </p:nvSpPr>
        <p:spPr>
          <a:xfrm>
            <a:off x="8130084" y="2246511"/>
            <a:ext cx="1316633" cy="508000"/>
          </a:xfrm>
          <a:custGeom>
            <a:avLst/>
            <a:gdLst/>
            <a:ahLst/>
            <a:cxnLst/>
            <a:rect l="l" t="t" r="r" b="b"/>
            <a:pathLst>
              <a:path w="1316633" h="508000">
                <a:moveTo>
                  <a:pt x="101600" y="0"/>
                </a:moveTo>
                <a:lnTo>
                  <a:pt x="1215033" y="0"/>
                </a:lnTo>
                <a:arcTo wR="101600" hR="101600" stAng="16200000" swAng="5400000"/>
                <a:lnTo>
                  <a:pt x="1316633" y="406400"/>
                </a:lnTo>
                <a:arcTo wR="101600" hR="101600" stAng="0" swAng="5400000"/>
                <a:lnTo>
                  <a:pt x="101600" y="508000"/>
                </a:lnTo>
                <a:arcTo wR="101600" hR="101600" stAng="5400000" swAng="5400000"/>
                <a:lnTo>
                  <a:pt x="0" y="101600"/>
                </a:lnTo>
                <a:arcTo wR="101600" hR="101600" stAng="10800000" swAng="5400000"/>
                <a:close/>
              </a:path>
            </a:pathLst>
          </a:custGeom>
          <a:solidFill>
            <a:srgbClr val="2F5BEA"/>
          </a:solidFill>
          <a:ln/>
        </p:spPr>
        <p:txBody>
          <a:bodyPr wrap="square" lIns="50800" tIns="127000" rIns="50800" bIns="101600" rtlCol="0" anchor="t">
            <a:normAutofit/>
          </a:bodyPr>
          <a:lstStyle/>
          <a:p>
            <a:pPr marL="0" indent="0" algn="ctr">
              <a:lnSpc>
                <a:spcPts val="2000"/>
              </a:lnSpc>
              <a:buNone/>
            </a:pPr>
            <a:r>
              <a:rPr lang="en-US" sz="1600" b="1" dirty="0">
                <a:solidFill>
                  <a:srgbClr val="F5F2EA"/>
                </a:solidFill>
                <a:latin typeface="DM Sans" pitchFamily="34" charset="0"/>
                <a:ea typeface="DM Sans" pitchFamily="34" charset="-122"/>
                <a:cs typeface="DM Sans" pitchFamily="34" charset="-120"/>
              </a:rPr>
              <a:t>Model</a:t>
            </a:r>
            <a:endParaRPr lang="en-US" sz="1600" dirty="0"/>
          </a:p>
        </p:txBody>
      </p:sp>
      <p:pic>
        <p:nvPicPr>
          <p:cNvPr id="15" name="Image 3" descr="arrow-right"/>
          <p:cNvPicPr>
            <a:picLocks noChangeAspect="1"/>
          </p:cNvPicPr>
          <p:nvPr/>
        </p:nvPicPr>
        <p:blipFill>
          <a:blip r:embed="rId3"/>
          <a:srcRect/>
          <a:stretch/>
        </p:blipFill>
        <p:spPr>
          <a:xfrm>
            <a:off x="9522916" y="2424311"/>
            <a:ext cx="254000" cy="152400"/>
          </a:xfrm>
          <a:prstGeom prst="rect">
            <a:avLst/>
          </a:prstGeom>
        </p:spPr>
      </p:pic>
      <p:sp>
        <p:nvSpPr>
          <p:cNvPr id="16" name="Text 10"/>
          <p:cNvSpPr/>
          <p:nvPr/>
        </p:nvSpPr>
        <p:spPr>
          <a:xfrm>
            <a:off x="9853116" y="2119511"/>
            <a:ext cx="1316534" cy="762000"/>
          </a:xfrm>
          <a:custGeom>
            <a:avLst/>
            <a:gdLst/>
            <a:ahLst/>
            <a:cxnLst/>
            <a:rect l="l" t="t" r="r" b="b"/>
            <a:pathLst>
              <a:path w="1316534" h="762000">
                <a:moveTo>
                  <a:pt x="101600" y="0"/>
                </a:moveTo>
                <a:lnTo>
                  <a:pt x="1214934" y="0"/>
                </a:lnTo>
                <a:arcTo wR="101600" hR="101600" stAng="16200000" swAng="5400000"/>
                <a:lnTo>
                  <a:pt x="1316534" y="660400"/>
                </a:lnTo>
                <a:arcTo wR="101600" hR="101600" stAng="0" swAng="5400000"/>
                <a:lnTo>
                  <a:pt x="101600" y="762000"/>
                </a:lnTo>
                <a:arcTo wR="101600" hR="101600" stAng="5400000" swAng="5400000"/>
                <a:lnTo>
                  <a:pt x="0" y="101600"/>
                </a:lnTo>
                <a:arcTo wR="101600" hR="101600" stAng="10800000" swAng="5400000"/>
                <a:close/>
              </a:path>
            </a:pathLst>
          </a:custGeom>
          <a:solidFill>
            <a:srgbClr val="C2410C"/>
          </a:solidFill>
          <a:ln/>
        </p:spPr>
        <p:txBody>
          <a:bodyPr wrap="square" lIns="50800" tIns="127000" rIns="50800" bIns="101600" rtlCol="0" anchor="t">
            <a:normAutofit/>
          </a:bodyPr>
          <a:lstStyle/>
          <a:p>
            <a:pPr marL="0" indent="0" algn="ctr">
              <a:lnSpc>
                <a:spcPts val="2000"/>
              </a:lnSpc>
              <a:buNone/>
            </a:pPr>
            <a:r>
              <a:rPr lang="en-US" sz="1600" b="1" dirty="0">
                <a:solidFill>
                  <a:srgbClr val="F5F2EA"/>
                </a:solidFill>
                <a:latin typeface="DM Sans" pitchFamily="34" charset="0"/>
                <a:ea typeface="DM Sans" pitchFamily="34" charset="-122"/>
                <a:cs typeface="DM Sans" pitchFamily="34" charset="-120"/>
              </a:rPr>
              <a:t>Prediction ŷ</a:t>
            </a:r>
            <a:endParaRPr lang="en-US" sz="1600" dirty="0"/>
          </a:p>
        </p:txBody>
      </p:sp>
      <p:sp>
        <p:nvSpPr>
          <p:cNvPr id="17" name="Shape 11"/>
          <p:cNvSpPr/>
          <p:nvPr/>
        </p:nvSpPr>
        <p:spPr>
          <a:xfrm>
            <a:off x="812800" y="3345061"/>
            <a:ext cx="5181600" cy="1347391"/>
          </a:xfrm>
          <a:prstGeom prst="roundRect">
            <a:avLst>
              <a:gd name="adj" fmla="val 11311"/>
            </a:avLst>
          </a:prstGeom>
          <a:solidFill>
            <a:srgbClr val="14182B"/>
          </a:solidFill>
          <a:ln/>
        </p:spPr>
        <p:txBody>
          <a:bodyPr/>
          <a:lstStyle/>
          <a:p>
            <a:endParaRPr lang="en-US"/>
          </a:p>
        </p:txBody>
      </p:sp>
      <p:sp>
        <p:nvSpPr>
          <p:cNvPr id="18" name="Text 12"/>
          <p:cNvSpPr/>
          <p:nvPr/>
        </p:nvSpPr>
        <p:spPr>
          <a:xfrm>
            <a:off x="1041400" y="3548261"/>
            <a:ext cx="486613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5F2EA"/>
                </a:solidFill>
                <a:latin typeface="DM Sans" pitchFamily="34" charset="0"/>
                <a:ea typeface="DM Sans" pitchFamily="34" charset="-122"/>
                <a:cs typeface="DM Sans" pitchFamily="34" charset="-120"/>
              </a:rPr>
              <a:t>Algorithm ≠ model</a:t>
            </a:r>
            <a:endParaRPr lang="en-US" sz="2200" dirty="0"/>
          </a:p>
        </p:txBody>
      </p:sp>
      <p:sp>
        <p:nvSpPr>
          <p:cNvPr id="19" name="Text 13"/>
          <p:cNvSpPr/>
          <p:nvPr/>
        </p:nvSpPr>
        <p:spPr>
          <a:xfrm>
            <a:off x="1041400" y="3920331"/>
            <a:ext cx="486613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EE0"/>
                </a:solidFill>
                <a:latin typeface="DM Sans" pitchFamily="34" charset="0"/>
                <a:ea typeface="DM Sans" pitchFamily="34" charset="-122"/>
                <a:cs typeface="DM Sans" pitchFamily="34" charset="-120"/>
              </a:rPr>
              <a:t>The algorithm is the recipe. The model is the dish it produces.</a:t>
            </a:r>
            <a:endParaRPr lang="en-US" sz="1600" dirty="0"/>
          </a:p>
        </p:txBody>
      </p:sp>
      <p:sp>
        <p:nvSpPr>
          <p:cNvPr id="20" name="Shape 14"/>
          <p:cNvSpPr/>
          <p:nvPr/>
        </p:nvSpPr>
        <p:spPr>
          <a:xfrm>
            <a:off x="6197600" y="3345061"/>
            <a:ext cx="5181600" cy="1347391"/>
          </a:xfrm>
          <a:prstGeom prst="roundRect">
            <a:avLst>
              <a:gd name="adj" fmla="val 11311"/>
            </a:avLst>
          </a:prstGeom>
          <a:solidFill>
            <a:srgbClr val="14182B"/>
          </a:solidFill>
          <a:ln/>
        </p:spPr>
        <p:txBody>
          <a:bodyPr/>
          <a:lstStyle/>
          <a:p>
            <a:endParaRPr lang="en-US"/>
          </a:p>
        </p:txBody>
      </p:sp>
      <p:sp>
        <p:nvSpPr>
          <p:cNvPr id="21" name="Text 15"/>
          <p:cNvSpPr/>
          <p:nvPr/>
        </p:nvSpPr>
        <p:spPr>
          <a:xfrm>
            <a:off x="6426200" y="3548261"/>
            <a:ext cx="486613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5F2EA"/>
                </a:solidFill>
                <a:latin typeface="DM Sans" pitchFamily="34" charset="0"/>
                <a:ea typeface="DM Sans" pitchFamily="34" charset="-122"/>
                <a:cs typeface="DM Sans" pitchFamily="34" charset="-120"/>
              </a:rPr>
              <a:t>Learning = less error</a:t>
            </a:r>
            <a:endParaRPr lang="en-US" sz="2200" dirty="0"/>
          </a:p>
        </p:txBody>
      </p:sp>
      <p:sp>
        <p:nvSpPr>
          <p:cNvPr id="22" name="Text 16"/>
          <p:cNvSpPr/>
          <p:nvPr/>
        </p:nvSpPr>
        <p:spPr>
          <a:xfrm>
            <a:off x="6426200" y="3920331"/>
            <a:ext cx="486613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EE0"/>
                </a:solidFill>
                <a:latin typeface="DM Sans" pitchFamily="34" charset="0"/>
                <a:ea typeface="DM Sans" pitchFamily="34" charset="-122"/>
                <a:cs typeface="DM Sans" pitchFamily="34" charset="-120"/>
              </a:rPr>
              <a:t>Training tries to shrink the model’s mistakes on the examples.</a:t>
            </a:r>
            <a:endParaRPr lang="en-US" sz="1600" dirty="0"/>
          </a:p>
        </p:txBody>
      </p:sp>
      <p:sp>
        <p:nvSpPr>
          <p:cNvPr id="23"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Some algorithms improve step by step; kNN simply stores the data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6D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Measuring error</a:t>
            </a:r>
            <a:endParaRPr lang="en-US" sz="3600" dirty="0"/>
          </a:p>
        </p:txBody>
      </p:sp>
      <p:sp>
        <p:nvSpPr>
          <p:cNvPr id="3" name="Shape 1"/>
          <p:cNvSpPr/>
          <p:nvPr/>
        </p:nvSpPr>
        <p:spPr>
          <a:xfrm>
            <a:off x="815975" y="1572816"/>
            <a:ext cx="3384550" cy="2807791"/>
          </a:xfrm>
          <a:prstGeom prst="roundRect">
            <a:avLst>
              <a:gd name="adj" fmla="val 5315"/>
            </a:avLst>
          </a:prstGeom>
          <a:solidFill>
            <a:srgbClr val="FFFDF8"/>
          </a:solidFill>
          <a:ln w="6350">
            <a:solidFill>
              <a:srgbClr val="D9D3C2"/>
            </a:solidFill>
            <a:prstDash val="solid"/>
          </a:ln>
        </p:spPr>
        <p:txBody>
          <a:bodyPr/>
          <a:lstStyle/>
          <a:p>
            <a:endParaRPr lang="en-US"/>
          </a:p>
        </p:txBody>
      </p:sp>
      <p:sp>
        <p:nvSpPr>
          <p:cNvPr id="4" name="Text 2"/>
          <p:cNvSpPr/>
          <p:nvPr/>
        </p:nvSpPr>
        <p:spPr>
          <a:xfrm>
            <a:off x="1073150" y="1829991"/>
            <a:ext cx="2870200" cy="289520"/>
          </a:xfrm>
          <a:custGeom>
            <a:avLst/>
            <a:gdLst/>
            <a:ahLst/>
            <a:cxnLst/>
            <a:rect l="l" t="t" r="r" b="b"/>
            <a:pathLst>
              <a:path w="2870200" h="289520">
                <a:moveTo>
                  <a:pt x="144760" y="0"/>
                </a:moveTo>
                <a:lnTo>
                  <a:pt x="2725440" y="0"/>
                </a:lnTo>
                <a:arcTo wR="144760" hR="144760" stAng="16200000" swAng="5400000"/>
                <a:lnTo>
                  <a:pt x="2870200" y="144760"/>
                </a:lnTo>
                <a:arcTo wR="144760" hR="144760" stAng="0" swAng="5400000"/>
                <a:lnTo>
                  <a:pt x="144760" y="289520"/>
                </a:lnTo>
                <a:arcTo wR="144760" hR="144760" stAng="5400000" swAng="5400000"/>
                <a:lnTo>
                  <a:pt x="0" y="144760"/>
                </a:lnTo>
                <a:arcTo wR="144760" hR="144760" stAng="10800000" swAng="5400000"/>
                <a:close/>
              </a:path>
            </a:pathLst>
          </a:custGeom>
          <a:solidFill>
            <a:srgbClr val="2F5BEA"/>
          </a:solidFill>
          <a:ln/>
        </p:spPr>
        <p:txBody>
          <a:bodyPr wrap="square" lIns="127000" tIns="38100" rIns="48514" bIns="12700" rtlCol="0" anchor="t">
            <a:normAutofit/>
          </a:bodyPr>
          <a:lstStyle/>
          <a:p>
            <a:pPr marL="0" indent="0" algn="l">
              <a:lnSpc>
                <a:spcPts val="1680"/>
              </a:lnSpc>
              <a:buNone/>
            </a:pPr>
            <a:r>
              <a:rPr lang="en-US" sz="1200" b="1" dirty="0">
                <a:solidFill>
                  <a:srgbClr val="F5F2EA"/>
                </a:solidFill>
                <a:latin typeface="DM Sans" pitchFamily="34" charset="0"/>
                <a:ea typeface="DM Sans" pitchFamily="34" charset="-122"/>
                <a:cs typeface="DM Sans" pitchFamily="34" charset="-120"/>
              </a:rPr>
              <a:t>Regression</a:t>
            </a:r>
            <a:endParaRPr lang="en-US" sz="1200" dirty="0"/>
          </a:p>
        </p:txBody>
      </p:sp>
      <p:sp>
        <p:nvSpPr>
          <p:cNvPr id="5" name="Text 3"/>
          <p:cNvSpPr/>
          <p:nvPr/>
        </p:nvSpPr>
        <p:spPr>
          <a:xfrm>
            <a:off x="1073150" y="2221111"/>
            <a:ext cx="2956306"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Mean squared error</a:t>
            </a:r>
            <a:endParaRPr lang="en-US" sz="2200" dirty="0"/>
          </a:p>
        </p:txBody>
      </p:sp>
      <p:sp>
        <p:nvSpPr>
          <p:cNvPr id="6" name="Text 4"/>
          <p:cNvSpPr/>
          <p:nvPr/>
        </p:nvSpPr>
        <p:spPr>
          <a:xfrm>
            <a:off x="1073150" y="2643981"/>
            <a:ext cx="2870200" cy="487660"/>
          </a:xfrm>
          <a:prstGeom prst="roundRect">
            <a:avLst>
              <a:gd name="adj" fmla="val 20834"/>
            </a:avLst>
          </a:prstGeom>
          <a:solidFill>
            <a:srgbClr val="F5F2EA"/>
          </a:solidFill>
          <a:ln/>
        </p:spPr>
        <p:txBody>
          <a:bodyPr wrap="square" lIns="97242" tIns="71842" rIns="18756" bIns="46442" rtlCol="0" anchor="t">
            <a:normAutofit/>
          </a:bodyPr>
          <a:lstStyle/>
          <a:p>
            <a:pPr marL="0" indent="0" algn="l">
              <a:lnSpc>
                <a:spcPts val="2240"/>
              </a:lnSpc>
              <a:buNone/>
            </a:pPr>
            <a:r>
              <a:rPr lang="en-US" sz="1600" b="1" dirty="0">
                <a:solidFill>
                  <a:srgbClr val="14182B"/>
                </a:solidFill>
                <a:latin typeface="JetBrains Mono" pitchFamily="49" charset="0"/>
                <a:ea typeface="JetBrains Mono" pitchFamily="49" charset="-122"/>
                <a:cs typeface="JetBrains Mono" pitchFamily="49" charset="-120"/>
              </a:rPr>
              <a:t>mean((y − ŷ)²)</a:t>
            </a:r>
            <a:endParaRPr lang="en-US" sz="1600" dirty="0"/>
          </a:p>
        </p:txBody>
      </p:sp>
      <p:sp>
        <p:nvSpPr>
          <p:cNvPr id="7" name="Text 5"/>
          <p:cNvSpPr/>
          <p:nvPr/>
        </p:nvSpPr>
        <p:spPr>
          <a:xfrm>
            <a:off x="1073150" y="3233241"/>
            <a:ext cx="295630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Squared gaps: big misses hurt, errors can’t cancel out</a:t>
            </a:r>
            <a:endParaRPr lang="en-US" sz="1600" dirty="0"/>
          </a:p>
        </p:txBody>
      </p:sp>
      <p:sp>
        <p:nvSpPr>
          <p:cNvPr id="8" name="Shape 6"/>
          <p:cNvSpPr/>
          <p:nvPr/>
        </p:nvSpPr>
        <p:spPr>
          <a:xfrm>
            <a:off x="4410075" y="1572816"/>
            <a:ext cx="3384550" cy="2807791"/>
          </a:xfrm>
          <a:prstGeom prst="roundRect">
            <a:avLst>
              <a:gd name="adj" fmla="val 5315"/>
            </a:avLst>
          </a:prstGeom>
          <a:solidFill>
            <a:srgbClr val="FFFDF8"/>
          </a:solidFill>
          <a:ln w="6350">
            <a:solidFill>
              <a:srgbClr val="D9D3C2"/>
            </a:solidFill>
            <a:prstDash val="solid"/>
          </a:ln>
        </p:spPr>
        <p:txBody>
          <a:bodyPr/>
          <a:lstStyle/>
          <a:p>
            <a:endParaRPr lang="en-US"/>
          </a:p>
        </p:txBody>
      </p:sp>
      <p:sp>
        <p:nvSpPr>
          <p:cNvPr id="9" name="Text 7"/>
          <p:cNvSpPr/>
          <p:nvPr/>
        </p:nvSpPr>
        <p:spPr>
          <a:xfrm>
            <a:off x="4667250" y="1829991"/>
            <a:ext cx="2870200" cy="289520"/>
          </a:xfrm>
          <a:custGeom>
            <a:avLst/>
            <a:gdLst/>
            <a:ahLst/>
            <a:cxnLst/>
            <a:rect l="l" t="t" r="r" b="b"/>
            <a:pathLst>
              <a:path w="2870200" h="289520">
                <a:moveTo>
                  <a:pt x="144760" y="0"/>
                </a:moveTo>
                <a:lnTo>
                  <a:pt x="2725440" y="0"/>
                </a:lnTo>
                <a:arcTo wR="144760" hR="144760" stAng="16200000" swAng="5400000"/>
                <a:lnTo>
                  <a:pt x="2870200" y="144760"/>
                </a:lnTo>
                <a:arcTo wR="144760" hR="144760" stAng="0" swAng="5400000"/>
                <a:lnTo>
                  <a:pt x="144760" y="289520"/>
                </a:lnTo>
                <a:arcTo wR="144760" hR="144760" stAng="5400000" swAng="5400000"/>
                <a:lnTo>
                  <a:pt x="0" y="144760"/>
                </a:lnTo>
                <a:arcTo wR="144760" hR="144760" stAng="10800000" swAng="5400000"/>
                <a:close/>
              </a:path>
            </a:pathLst>
          </a:custGeom>
          <a:solidFill>
            <a:srgbClr val="C2410C"/>
          </a:solidFill>
          <a:ln/>
        </p:spPr>
        <p:txBody>
          <a:bodyPr wrap="square" lIns="127000" tIns="38100" rIns="48514" bIns="12700" rtlCol="0" anchor="t">
            <a:normAutofit/>
          </a:bodyPr>
          <a:lstStyle/>
          <a:p>
            <a:pPr marL="0" indent="0" algn="l">
              <a:lnSpc>
                <a:spcPts val="1680"/>
              </a:lnSpc>
              <a:buNone/>
            </a:pPr>
            <a:r>
              <a:rPr lang="en-US" sz="1200" b="1" dirty="0">
                <a:solidFill>
                  <a:srgbClr val="F5F2EA"/>
                </a:solidFill>
                <a:latin typeface="DM Sans" pitchFamily="34" charset="0"/>
                <a:ea typeface="DM Sans" pitchFamily="34" charset="-122"/>
                <a:cs typeface="DM Sans" pitchFamily="34" charset="-120"/>
              </a:rPr>
              <a:t>Classification</a:t>
            </a:r>
            <a:endParaRPr lang="en-US" sz="1200" dirty="0"/>
          </a:p>
        </p:txBody>
      </p:sp>
      <p:sp>
        <p:nvSpPr>
          <p:cNvPr id="10" name="Text 8"/>
          <p:cNvSpPr/>
          <p:nvPr/>
        </p:nvSpPr>
        <p:spPr>
          <a:xfrm>
            <a:off x="4667250" y="2221111"/>
            <a:ext cx="2956306" cy="667941"/>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Misclassification rate</a:t>
            </a:r>
            <a:endParaRPr lang="en-US" sz="2200" dirty="0"/>
          </a:p>
        </p:txBody>
      </p:sp>
      <p:sp>
        <p:nvSpPr>
          <p:cNvPr id="11" name="Text 9"/>
          <p:cNvSpPr/>
          <p:nvPr/>
        </p:nvSpPr>
        <p:spPr>
          <a:xfrm>
            <a:off x="4667250" y="2965252"/>
            <a:ext cx="2870200" cy="487660"/>
          </a:xfrm>
          <a:prstGeom prst="roundRect">
            <a:avLst>
              <a:gd name="adj" fmla="val 20834"/>
            </a:avLst>
          </a:prstGeom>
          <a:solidFill>
            <a:srgbClr val="F5F2EA"/>
          </a:solidFill>
          <a:ln/>
        </p:spPr>
        <p:txBody>
          <a:bodyPr wrap="square" lIns="97242" tIns="71842" rIns="18756" bIns="46442" rtlCol="0" anchor="t">
            <a:normAutofit/>
          </a:bodyPr>
          <a:lstStyle/>
          <a:p>
            <a:pPr marL="0" indent="0" algn="l">
              <a:lnSpc>
                <a:spcPts val="2240"/>
              </a:lnSpc>
              <a:buNone/>
            </a:pPr>
            <a:r>
              <a:rPr lang="en-US" sz="1600" b="1" dirty="0">
                <a:solidFill>
                  <a:srgbClr val="14182B"/>
                </a:solidFill>
                <a:latin typeface="JetBrains Mono" pitchFamily="49" charset="0"/>
                <a:ea typeface="JetBrains Mono" pitchFamily="49" charset="-122"/>
                <a:cs typeface="JetBrains Mono" pitchFamily="49" charset="-120"/>
              </a:rPr>
              <a:t>mistakes / total</a:t>
            </a:r>
            <a:endParaRPr lang="en-US" sz="1600" dirty="0"/>
          </a:p>
        </p:txBody>
      </p:sp>
      <p:sp>
        <p:nvSpPr>
          <p:cNvPr id="12" name="Text 10"/>
          <p:cNvSpPr/>
          <p:nvPr/>
        </p:nvSpPr>
        <p:spPr>
          <a:xfrm>
            <a:off x="4667250" y="3554512"/>
            <a:ext cx="295630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The share of predictions that are wrong</a:t>
            </a:r>
            <a:endParaRPr lang="en-US" sz="1600" dirty="0"/>
          </a:p>
        </p:txBody>
      </p:sp>
      <p:sp>
        <p:nvSpPr>
          <p:cNvPr id="13" name="Shape 11"/>
          <p:cNvSpPr/>
          <p:nvPr/>
        </p:nvSpPr>
        <p:spPr>
          <a:xfrm>
            <a:off x="8001000" y="1569641"/>
            <a:ext cx="3378200" cy="2814141"/>
          </a:xfrm>
          <a:prstGeom prst="roundRect">
            <a:avLst>
              <a:gd name="adj" fmla="val 5416"/>
            </a:avLst>
          </a:prstGeom>
          <a:solidFill>
            <a:srgbClr val="14182B"/>
          </a:solidFill>
          <a:ln/>
        </p:spPr>
        <p:txBody>
          <a:bodyPr/>
          <a:lstStyle/>
          <a:p>
            <a:endParaRPr lang="en-US"/>
          </a:p>
        </p:txBody>
      </p:sp>
      <p:sp>
        <p:nvSpPr>
          <p:cNvPr id="14" name="Text 12"/>
          <p:cNvSpPr/>
          <p:nvPr/>
        </p:nvSpPr>
        <p:spPr>
          <a:xfrm>
            <a:off x="8255000" y="1823641"/>
            <a:ext cx="2870200" cy="289520"/>
          </a:xfrm>
          <a:custGeom>
            <a:avLst/>
            <a:gdLst/>
            <a:ahLst/>
            <a:cxnLst/>
            <a:rect l="l" t="t" r="r" b="b"/>
            <a:pathLst>
              <a:path w="2870200" h="289520">
                <a:moveTo>
                  <a:pt x="144760" y="0"/>
                </a:moveTo>
                <a:lnTo>
                  <a:pt x="2725440" y="0"/>
                </a:lnTo>
                <a:arcTo wR="144760" hR="144760" stAng="16200000" swAng="5400000"/>
                <a:lnTo>
                  <a:pt x="2870200" y="144760"/>
                </a:lnTo>
                <a:arcTo wR="144760" hR="144760" stAng="0" swAng="5400000"/>
                <a:lnTo>
                  <a:pt x="144760" y="289520"/>
                </a:lnTo>
                <a:arcTo wR="144760" hR="144760" stAng="5400000" swAng="5400000"/>
                <a:lnTo>
                  <a:pt x="0" y="144760"/>
                </a:lnTo>
                <a:arcTo wR="144760" hR="144760" stAng="10800000" swAng="5400000"/>
                <a:close/>
              </a:path>
            </a:pathLst>
          </a:custGeom>
          <a:solidFill>
            <a:srgbClr val="F5F2EA"/>
          </a:solidFill>
          <a:ln/>
        </p:spPr>
        <p:txBody>
          <a:bodyPr wrap="square" lIns="127000" tIns="38100" rIns="48514" bIns="12700" rtlCol="0" anchor="t">
            <a:normAutofit/>
          </a:bodyPr>
          <a:lstStyle/>
          <a:p>
            <a:pPr marL="0" indent="0" algn="l">
              <a:lnSpc>
                <a:spcPts val="1680"/>
              </a:lnSpc>
              <a:buNone/>
            </a:pPr>
            <a:r>
              <a:rPr lang="en-US" sz="1200" b="1" dirty="0">
                <a:solidFill>
                  <a:srgbClr val="14182B"/>
                </a:solidFill>
                <a:latin typeface="DM Sans" pitchFamily="34" charset="0"/>
                <a:ea typeface="DM Sans" pitchFamily="34" charset="-122"/>
                <a:cs typeface="DM Sans" pitchFamily="34" charset="-120"/>
              </a:rPr>
              <a:t>Careful</a:t>
            </a:r>
            <a:endParaRPr lang="en-US" sz="1200" dirty="0"/>
          </a:p>
        </p:txBody>
      </p:sp>
      <p:sp>
        <p:nvSpPr>
          <p:cNvPr id="15" name="Text 13"/>
          <p:cNvSpPr/>
          <p:nvPr/>
        </p:nvSpPr>
        <p:spPr>
          <a:xfrm>
            <a:off x="8255000" y="2214761"/>
            <a:ext cx="2956306"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5F2EA"/>
                </a:solidFill>
                <a:latin typeface="DM Sans" pitchFamily="34" charset="0"/>
                <a:ea typeface="DM Sans" pitchFamily="34" charset="-122"/>
                <a:cs typeface="DM Sans" pitchFamily="34" charset="-120"/>
              </a:rPr>
              <a:t>Accuracy can lie</a:t>
            </a:r>
            <a:endParaRPr lang="en-US" sz="2200" dirty="0"/>
          </a:p>
        </p:txBody>
      </p:sp>
      <p:sp>
        <p:nvSpPr>
          <p:cNvPr id="16" name="Text 14"/>
          <p:cNvSpPr/>
          <p:nvPr/>
        </p:nvSpPr>
        <p:spPr>
          <a:xfrm>
            <a:off x="8255000" y="2637631"/>
            <a:ext cx="2956306"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EE0"/>
                </a:solidFill>
                <a:latin typeface="DM Sans" pitchFamily="34" charset="0"/>
                <a:ea typeface="DM Sans" pitchFamily="34" charset="-122"/>
                <a:cs typeface="DM Sans" pitchFamily="34" charset="-120"/>
              </a:rPr>
              <a:t>5% of patients have cancer. Always answering “no cancer” is 95% accurate and finds nobody.</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y = true value · ŷ = model’s prediction · Later: confusion matrix, precision, recall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F5BEA"/>
        </a:solidFill>
        <a:effectLst/>
      </p:bgPr>
    </p:bg>
    <p:spTree>
      <p:nvGrpSpPr>
        <p:cNvPr id="1" name=""/>
        <p:cNvGrpSpPr/>
        <p:nvPr/>
      </p:nvGrpSpPr>
      <p:grpSpPr>
        <a:xfrm>
          <a:off x="0" y="0"/>
          <a:ext cx="0" cy="0"/>
          <a:chOff x="0" y="0"/>
          <a:chExt cx="0" cy="0"/>
        </a:xfrm>
      </p:grpSpPr>
      <p:sp>
        <p:nvSpPr>
          <p:cNvPr id="2" name="Text 0"/>
          <p:cNvSpPr/>
          <p:nvPr/>
        </p:nvSpPr>
        <p:spPr>
          <a:xfrm>
            <a:off x="812800" y="2017117"/>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4EAFD"/>
                </a:solidFill>
                <a:latin typeface="DM Sans" pitchFamily="34" charset="0"/>
                <a:ea typeface="DM Sans" pitchFamily="34" charset="-122"/>
                <a:cs typeface="DM Sans" pitchFamily="34" charset="-120"/>
              </a:rPr>
              <a:t>THE REAL GOAL</a:t>
            </a:r>
            <a:endParaRPr lang="en-US" sz="1200" dirty="0"/>
          </a:p>
        </p:txBody>
      </p:sp>
      <p:sp>
        <p:nvSpPr>
          <p:cNvPr id="3" name="Text 1"/>
          <p:cNvSpPr>
            <a:spLocks noGrp="1"/>
          </p:cNvSpPr>
          <p:nvPr>
            <p:ph type="title"/>
          </p:nvPr>
        </p:nvSpPr>
        <p:spPr>
          <a:xfrm>
            <a:off x="812800" y="2586038"/>
            <a:ext cx="10883392" cy="1561505"/>
          </a:xfrm>
          <a:prstGeom prst="rect">
            <a:avLst/>
          </a:prstGeom>
          <a:noFill/>
          <a:ln/>
        </p:spPr>
        <p:txBody>
          <a:bodyPr wrap="square" lIns="0" tIns="0" rIns="0" bIns="0" rtlCol="0" anchor="t">
            <a:normAutofit/>
          </a:bodyPr>
          <a:lstStyle/>
          <a:p>
            <a:pPr marL="0" indent="0" algn="l">
              <a:lnSpc>
                <a:spcPts val="6048"/>
              </a:lnSpc>
              <a:buNone/>
            </a:pPr>
            <a:r>
              <a:rPr lang="en-US" sz="5600" b="1" i="0" kern="0" spc="-100" dirty="0">
                <a:solidFill>
                  <a:srgbClr val="F5F2EA"/>
                </a:solidFill>
                <a:latin typeface="DM Sans" pitchFamily="34" charset="0"/>
                <a:ea typeface="DM Sans" pitchFamily="34" charset="-122"/>
                <a:cs typeface="DM Sans" pitchFamily="34" charset="-120"/>
              </a:rPr>
              <a:t>Do well on data the model has never seen.</a:t>
            </a:r>
            <a:endParaRPr lang="en-US" sz="5600" dirty="0"/>
          </a:p>
        </p:txBody>
      </p:sp>
      <p:sp>
        <p:nvSpPr>
          <p:cNvPr id="4" name="Text 2"/>
          <p:cNvSpPr/>
          <p:nvPr/>
        </p:nvSpPr>
        <p:spPr>
          <a:xfrm>
            <a:off x="812800" y="4477742"/>
            <a:ext cx="10883392" cy="38854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E4EAFD"/>
                </a:solidFill>
                <a:latin typeface="DM Sans" pitchFamily="34" charset="0"/>
                <a:ea typeface="DM Sans" pitchFamily="34" charset="-122"/>
                <a:cs typeface="DM Sans" pitchFamily="34" charset="-120"/>
              </a:rPr>
              <a:t>Memorizing the past is not predicting the future.</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Splitting the data</a:t>
            </a:r>
            <a:endParaRPr lang="en-US" sz="3600" dirty="0"/>
          </a:p>
        </p:txBody>
      </p:sp>
      <p:sp>
        <p:nvSpPr>
          <p:cNvPr id="3" name="Shape 1"/>
          <p:cNvSpPr/>
          <p:nvPr/>
        </p:nvSpPr>
        <p:spPr>
          <a:xfrm>
            <a:off x="812800" y="1569641"/>
            <a:ext cx="6337300" cy="1088330"/>
          </a:xfrm>
          <a:custGeom>
            <a:avLst/>
            <a:gdLst/>
            <a:ahLst/>
            <a:cxnLst/>
            <a:rect l="l" t="t" r="r" b="b"/>
            <a:pathLst>
              <a:path w="6337300" h="1088330">
                <a:moveTo>
                  <a:pt x="152400" y="0"/>
                </a:moveTo>
                <a:lnTo>
                  <a:pt x="6337300" y="0"/>
                </a:lnTo>
                <a:lnTo>
                  <a:pt x="6337300" y="1088330"/>
                </a:lnTo>
                <a:lnTo>
                  <a:pt x="152400" y="1088330"/>
                </a:lnTo>
                <a:arcTo wR="152400" hR="152400" stAng="5400000" swAng="5400000"/>
                <a:lnTo>
                  <a:pt x="0" y="152400"/>
                </a:lnTo>
                <a:arcTo wR="152400" hR="152400" stAng="10800000" swAng="5400000"/>
                <a:close/>
              </a:path>
            </a:pathLst>
          </a:custGeom>
          <a:solidFill>
            <a:srgbClr val="2F5BEA"/>
          </a:solidFill>
          <a:ln/>
        </p:spPr>
        <p:txBody>
          <a:bodyPr/>
          <a:lstStyle/>
          <a:p>
            <a:endParaRPr lang="en-US"/>
          </a:p>
        </p:txBody>
      </p:sp>
      <p:sp>
        <p:nvSpPr>
          <p:cNvPr id="4" name="Shape 2"/>
          <p:cNvSpPr/>
          <p:nvPr/>
        </p:nvSpPr>
        <p:spPr>
          <a:xfrm>
            <a:off x="812800" y="1569641"/>
            <a:ext cx="6337300" cy="1088330"/>
          </a:xfrm>
          <a:custGeom>
            <a:avLst/>
            <a:gdLst/>
            <a:ahLst/>
            <a:cxnLst/>
            <a:rect l="l" t="t" r="r" b="b"/>
            <a:pathLst>
              <a:path w="6337300" h="1088330">
                <a:moveTo>
                  <a:pt x="6311900" y="0"/>
                </a:moveTo>
                <a:lnTo>
                  <a:pt x="6337300" y="0"/>
                </a:lnTo>
                <a:lnTo>
                  <a:pt x="6337300" y="1088330"/>
                </a:lnTo>
                <a:lnTo>
                  <a:pt x="6311900" y="1088330"/>
                </a:lnTo>
                <a:lnTo>
                  <a:pt x="6311900" y="0"/>
                </a:lnTo>
                <a:close/>
              </a:path>
            </a:pathLst>
          </a:custGeom>
          <a:solidFill>
            <a:srgbClr val="F5F2EA"/>
          </a:solidFill>
          <a:ln/>
        </p:spPr>
        <p:txBody>
          <a:bodyPr/>
          <a:lstStyle/>
          <a:p>
            <a:endParaRPr lang="en-US"/>
          </a:p>
        </p:txBody>
      </p:sp>
      <p:sp>
        <p:nvSpPr>
          <p:cNvPr id="5" name="Text 3"/>
          <p:cNvSpPr/>
          <p:nvPr/>
        </p:nvSpPr>
        <p:spPr>
          <a:xfrm>
            <a:off x="1041400" y="1798241"/>
            <a:ext cx="6030341"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5F2EA"/>
                </a:solidFill>
                <a:latin typeface="DM Sans" pitchFamily="34" charset="0"/>
                <a:ea typeface="DM Sans" pitchFamily="34" charset="-122"/>
                <a:cs typeface="DM Sans" pitchFamily="34" charset="-120"/>
              </a:rPr>
              <a:t>Train</a:t>
            </a:r>
            <a:endParaRPr lang="en-US" sz="2200" dirty="0"/>
          </a:p>
        </p:txBody>
      </p:sp>
      <p:sp>
        <p:nvSpPr>
          <p:cNvPr id="6" name="Text 4"/>
          <p:cNvSpPr/>
          <p:nvPr/>
        </p:nvSpPr>
        <p:spPr>
          <a:xfrm>
            <a:off x="1041400" y="2144911"/>
            <a:ext cx="6030341"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4EAFD"/>
                </a:solidFill>
                <a:latin typeface="DM Sans" pitchFamily="34" charset="0"/>
                <a:ea typeface="DM Sans" pitchFamily="34" charset="-122"/>
                <a:cs typeface="DM Sans" pitchFamily="34" charset="-120"/>
              </a:rPr>
              <a:t>60%</a:t>
            </a:r>
            <a:endParaRPr lang="en-US" sz="1600" dirty="0"/>
          </a:p>
        </p:txBody>
      </p:sp>
      <p:sp>
        <p:nvSpPr>
          <p:cNvPr id="7" name="Shape 5"/>
          <p:cNvSpPr/>
          <p:nvPr/>
        </p:nvSpPr>
        <p:spPr>
          <a:xfrm>
            <a:off x="7150100" y="1569641"/>
            <a:ext cx="2114550" cy="1088330"/>
          </a:xfrm>
          <a:prstGeom prst="rect">
            <a:avLst/>
          </a:prstGeom>
          <a:solidFill>
            <a:srgbClr val="C2410C"/>
          </a:solidFill>
          <a:ln/>
        </p:spPr>
        <p:txBody>
          <a:bodyPr/>
          <a:lstStyle/>
          <a:p>
            <a:endParaRPr lang="en-US"/>
          </a:p>
        </p:txBody>
      </p:sp>
      <p:sp>
        <p:nvSpPr>
          <p:cNvPr id="8" name="Shape 6"/>
          <p:cNvSpPr/>
          <p:nvPr/>
        </p:nvSpPr>
        <p:spPr>
          <a:xfrm>
            <a:off x="9251950" y="1569641"/>
            <a:ext cx="0" cy="1088330"/>
          </a:xfrm>
          <a:prstGeom prst="line">
            <a:avLst/>
          </a:prstGeom>
          <a:noFill/>
          <a:ln w="25400">
            <a:solidFill>
              <a:srgbClr val="F5F2EA"/>
            </a:solidFill>
            <a:prstDash val="solid"/>
          </a:ln>
        </p:spPr>
        <p:txBody>
          <a:bodyPr/>
          <a:lstStyle/>
          <a:p>
            <a:endParaRPr lang="en-US"/>
          </a:p>
        </p:txBody>
      </p:sp>
      <p:sp>
        <p:nvSpPr>
          <p:cNvPr id="9" name="Text 7"/>
          <p:cNvSpPr/>
          <p:nvPr/>
        </p:nvSpPr>
        <p:spPr>
          <a:xfrm>
            <a:off x="7378700" y="1798241"/>
            <a:ext cx="168275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5F2EA"/>
                </a:solidFill>
                <a:latin typeface="DM Sans" pitchFamily="34" charset="0"/>
                <a:ea typeface="DM Sans" pitchFamily="34" charset="-122"/>
                <a:cs typeface="DM Sans" pitchFamily="34" charset="-120"/>
              </a:rPr>
              <a:t>Validation</a:t>
            </a:r>
            <a:endParaRPr lang="en-US" sz="2200" dirty="0"/>
          </a:p>
        </p:txBody>
      </p:sp>
      <p:sp>
        <p:nvSpPr>
          <p:cNvPr id="10" name="Text 8"/>
          <p:cNvSpPr/>
          <p:nvPr/>
        </p:nvSpPr>
        <p:spPr>
          <a:xfrm>
            <a:off x="7378700" y="2144911"/>
            <a:ext cx="168275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DE8DC"/>
                </a:solidFill>
                <a:latin typeface="DM Sans" pitchFamily="34" charset="0"/>
                <a:ea typeface="DM Sans" pitchFamily="34" charset="-122"/>
                <a:cs typeface="DM Sans" pitchFamily="34" charset="-120"/>
              </a:rPr>
              <a:t>20%</a:t>
            </a:r>
            <a:endParaRPr lang="en-US" sz="1600" dirty="0"/>
          </a:p>
        </p:txBody>
      </p:sp>
      <p:sp>
        <p:nvSpPr>
          <p:cNvPr id="11" name="Shape 9"/>
          <p:cNvSpPr/>
          <p:nvPr/>
        </p:nvSpPr>
        <p:spPr>
          <a:xfrm>
            <a:off x="9264650" y="1569641"/>
            <a:ext cx="2089150" cy="1088330"/>
          </a:xfrm>
          <a:custGeom>
            <a:avLst/>
            <a:gdLst/>
            <a:ahLst/>
            <a:cxnLst/>
            <a:rect l="l" t="t" r="r" b="b"/>
            <a:pathLst>
              <a:path w="2089150" h="1088330">
                <a:moveTo>
                  <a:pt x="0" y="0"/>
                </a:moveTo>
                <a:lnTo>
                  <a:pt x="1936750" y="0"/>
                </a:lnTo>
                <a:arcTo wR="152400" hR="152400" stAng="16200000" swAng="5400000"/>
                <a:lnTo>
                  <a:pt x="2089150" y="935930"/>
                </a:lnTo>
                <a:arcTo wR="152400" hR="152400" stAng="0" swAng="5400000"/>
                <a:lnTo>
                  <a:pt x="0" y="1088330"/>
                </a:lnTo>
                <a:lnTo>
                  <a:pt x="0" y="0"/>
                </a:lnTo>
                <a:close/>
              </a:path>
            </a:pathLst>
          </a:custGeom>
          <a:solidFill>
            <a:srgbClr val="14182B"/>
          </a:solidFill>
          <a:ln/>
        </p:spPr>
        <p:txBody>
          <a:bodyPr/>
          <a:lstStyle/>
          <a:p>
            <a:endParaRPr lang="en-US"/>
          </a:p>
        </p:txBody>
      </p:sp>
      <p:sp>
        <p:nvSpPr>
          <p:cNvPr id="12" name="Text 10"/>
          <p:cNvSpPr/>
          <p:nvPr/>
        </p:nvSpPr>
        <p:spPr>
          <a:xfrm>
            <a:off x="9493250" y="1798241"/>
            <a:ext cx="168275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5F2EA"/>
                </a:solidFill>
                <a:latin typeface="DM Sans" pitchFamily="34" charset="0"/>
                <a:ea typeface="DM Sans" pitchFamily="34" charset="-122"/>
                <a:cs typeface="DM Sans" pitchFamily="34" charset="-120"/>
              </a:rPr>
              <a:t>Test</a:t>
            </a:r>
            <a:endParaRPr lang="en-US" sz="2200" dirty="0"/>
          </a:p>
        </p:txBody>
      </p:sp>
      <p:sp>
        <p:nvSpPr>
          <p:cNvPr id="13" name="Text 11"/>
          <p:cNvSpPr/>
          <p:nvPr/>
        </p:nvSpPr>
        <p:spPr>
          <a:xfrm>
            <a:off x="9493250" y="2144911"/>
            <a:ext cx="168275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EE0"/>
                </a:solidFill>
                <a:latin typeface="DM Sans" pitchFamily="34" charset="0"/>
                <a:ea typeface="DM Sans" pitchFamily="34" charset="-122"/>
                <a:cs typeface="DM Sans" pitchFamily="34" charset="-120"/>
              </a:rPr>
              <a:t>20%</a:t>
            </a:r>
            <a:endParaRPr lang="en-US" sz="1600" dirty="0"/>
          </a:p>
        </p:txBody>
      </p:sp>
      <p:sp>
        <p:nvSpPr>
          <p:cNvPr id="14" name="Shape 12"/>
          <p:cNvSpPr/>
          <p:nvPr/>
        </p:nvSpPr>
        <p:spPr>
          <a:xfrm>
            <a:off x="815975" y="2915146"/>
            <a:ext cx="3380284" cy="1654671"/>
          </a:xfrm>
          <a:prstGeom prst="roundRect">
            <a:avLst>
              <a:gd name="adj" fmla="val 9018"/>
            </a:avLst>
          </a:prstGeom>
          <a:solidFill>
            <a:srgbClr val="FFFDF8"/>
          </a:solidFill>
          <a:ln w="6350">
            <a:solidFill>
              <a:srgbClr val="D9D3C2"/>
            </a:solidFill>
            <a:prstDash val="solid"/>
          </a:ln>
        </p:spPr>
        <p:txBody>
          <a:bodyPr/>
          <a:lstStyle/>
          <a:p>
            <a:endParaRPr lang="en-US"/>
          </a:p>
        </p:txBody>
      </p:sp>
      <p:sp>
        <p:nvSpPr>
          <p:cNvPr id="15" name="Text 13"/>
          <p:cNvSpPr/>
          <p:nvPr/>
        </p:nvSpPr>
        <p:spPr>
          <a:xfrm>
            <a:off x="1022350" y="3121521"/>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5BEA"/>
                </a:solidFill>
                <a:latin typeface="DM Sans" pitchFamily="34" charset="0"/>
                <a:ea typeface="DM Sans" pitchFamily="34" charset="-122"/>
                <a:cs typeface="DM Sans" pitchFamily="34" charset="-120"/>
              </a:rPr>
              <a:t>TRAIN</a:t>
            </a:r>
            <a:endParaRPr lang="en-US" sz="1200" dirty="0"/>
          </a:p>
        </p:txBody>
      </p:sp>
      <p:sp>
        <p:nvSpPr>
          <p:cNvPr id="16" name="Text 14"/>
          <p:cNvSpPr/>
          <p:nvPr/>
        </p:nvSpPr>
        <p:spPr>
          <a:xfrm>
            <a:off x="1022350" y="3385641"/>
            <a:ext cx="305656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Learn from it</a:t>
            </a:r>
            <a:endParaRPr lang="en-US" sz="2200" dirty="0"/>
          </a:p>
        </p:txBody>
      </p:sp>
      <p:sp>
        <p:nvSpPr>
          <p:cNvPr id="17" name="Text 15"/>
          <p:cNvSpPr/>
          <p:nvPr/>
        </p:nvSpPr>
        <p:spPr>
          <a:xfrm>
            <a:off x="1022350" y="3757712"/>
            <a:ext cx="305656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Like practice problems</a:t>
            </a:r>
            <a:endParaRPr lang="en-US" sz="1600" dirty="0"/>
          </a:p>
        </p:txBody>
      </p:sp>
      <p:sp>
        <p:nvSpPr>
          <p:cNvPr id="18" name="Shape 16"/>
          <p:cNvSpPr/>
          <p:nvPr/>
        </p:nvSpPr>
        <p:spPr>
          <a:xfrm>
            <a:off x="4405809" y="2915146"/>
            <a:ext cx="3380383" cy="1654671"/>
          </a:xfrm>
          <a:prstGeom prst="roundRect">
            <a:avLst>
              <a:gd name="adj" fmla="val 9018"/>
            </a:avLst>
          </a:prstGeom>
          <a:solidFill>
            <a:srgbClr val="FFFDF8"/>
          </a:solidFill>
          <a:ln w="6350">
            <a:solidFill>
              <a:srgbClr val="D9D3C2"/>
            </a:solidFill>
            <a:prstDash val="solid"/>
          </a:ln>
        </p:spPr>
        <p:txBody>
          <a:bodyPr/>
          <a:lstStyle/>
          <a:p>
            <a:endParaRPr lang="en-US"/>
          </a:p>
        </p:txBody>
      </p:sp>
      <p:sp>
        <p:nvSpPr>
          <p:cNvPr id="19" name="Text 17"/>
          <p:cNvSpPr/>
          <p:nvPr/>
        </p:nvSpPr>
        <p:spPr>
          <a:xfrm>
            <a:off x="4612184" y="3121521"/>
            <a:ext cx="305666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VALIDATION</a:t>
            </a:r>
            <a:endParaRPr lang="en-US" sz="1200" dirty="0"/>
          </a:p>
        </p:txBody>
      </p:sp>
      <p:sp>
        <p:nvSpPr>
          <p:cNvPr id="20" name="Text 18"/>
          <p:cNvSpPr/>
          <p:nvPr/>
        </p:nvSpPr>
        <p:spPr>
          <a:xfrm>
            <a:off x="4612184" y="3385641"/>
            <a:ext cx="3056662" cy="667941"/>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Tune hyperparameters</a:t>
            </a:r>
            <a:endParaRPr lang="en-US" sz="2200" dirty="0"/>
          </a:p>
        </p:txBody>
      </p:sp>
      <p:sp>
        <p:nvSpPr>
          <p:cNvPr id="21" name="Text 19"/>
          <p:cNvSpPr/>
          <p:nvPr/>
        </p:nvSpPr>
        <p:spPr>
          <a:xfrm>
            <a:off x="4612184" y="4078982"/>
            <a:ext cx="305666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Like a mock exam</a:t>
            </a:r>
            <a:endParaRPr lang="en-US" sz="1600" dirty="0"/>
          </a:p>
        </p:txBody>
      </p:sp>
      <p:sp>
        <p:nvSpPr>
          <p:cNvPr id="22" name="Shape 20"/>
          <p:cNvSpPr/>
          <p:nvPr/>
        </p:nvSpPr>
        <p:spPr>
          <a:xfrm>
            <a:off x="7995741" y="2915146"/>
            <a:ext cx="3380284" cy="1654671"/>
          </a:xfrm>
          <a:prstGeom prst="roundRect">
            <a:avLst>
              <a:gd name="adj" fmla="val 9018"/>
            </a:avLst>
          </a:prstGeom>
          <a:solidFill>
            <a:srgbClr val="FFFDF8"/>
          </a:solidFill>
          <a:ln w="6350">
            <a:solidFill>
              <a:srgbClr val="D9D3C2"/>
            </a:solidFill>
            <a:prstDash val="solid"/>
          </a:ln>
        </p:spPr>
        <p:txBody>
          <a:bodyPr/>
          <a:lstStyle/>
          <a:p>
            <a:endParaRPr lang="en-US"/>
          </a:p>
        </p:txBody>
      </p:sp>
      <p:sp>
        <p:nvSpPr>
          <p:cNvPr id="23" name="Text 21"/>
          <p:cNvSpPr/>
          <p:nvPr/>
        </p:nvSpPr>
        <p:spPr>
          <a:xfrm>
            <a:off x="8202116" y="3121521"/>
            <a:ext cx="30565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4182B"/>
                </a:solidFill>
                <a:latin typeface="DM Sans" pitchFamily="34" charset="0"/>
                <a:ea typeface="DM Sans" pitchFamily="34" charset="-122"/>
                <a:cs typeface="DM Sans" pitchFamily="34" charset="-120"/>
              </a:rPr>
              <a:t>TEST</a:t>
            </a:r>
            <a:endParaRPr lang="en-US" sz="1200" dirty="0"/>
          </a:p>
        </p:txBody>
      </p:sp>
      <p:sp>
        <p:nvSpPr>
          <p:cNvPr id="24" name="Text 22"/>
          <p:cNvSpPr/>
          <p:nvPr/>
        </p:nvSpPr>
        <p:spPr>
          <a:xfrm>
            <a:off x="8202116" y="3385641"/>
            <a:ext cx="305656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Final score, once</a:t>
            </a:r>
            <a:endParaRPr lang="en-US" sz="2200" dirty="0"/>
          </a:p>
        </p:txBody>
      </p:sp>
      <p:sp>
        <p:nvSpPr>
          <p:cNvPr id="25" name="Text 23"/>
          <p:cNvSpPr/>
          <p:nvPr/>
        </p:nvSpPr>
        <p:spPr>
          <a:xfrm>
            <a:off x="8202116" y="3757712"/>
            <a:ext cx="305656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Like the real exam</a:t>
            </a:r>
            <a:endParaRPr lang="en-US" sz="16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Typical ratios: 60/20/20 or 70/15/15 · small dataset? Cross-validation, later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6D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Underfitting and overfitting</a:t>
            </a:r>
            <a:endParaRPr lang="en-US" sz="3600" dirty="0"/>
          </a:p>
        </p:txBody>
      </p:sp>
      <p:sp>
        <p:nvSpPr>
          <p:cNvPr id="3" name="Shape 1"/>
          <p:cNvSpPr/>
          <p:nvPr/>
        </p:nvSpPr>
        <p:spPr>
          <a:xfrm>
            <a:off x="815975" y="1572816"/>
            <a:ext cx="3380284" cy="3403501"/>
          </a:xfrm>
          <a:prstGeom prst="roundRect">
            <a:avLst>
              <a:gd name="adj" fmla="val 4415"/>
            </a:avLst>
          </a:prstGeom>
          <a:solidFill>
            <a:srgbClr val="FFFDF8"/>
          </a:solidFill>
          <a:ln w="6350">
            <a:solidFill>
              <a:srgbClr val="D9D3C2"/>
            </a:solidFill>
            <a:prstDash val="solid"/>
          </a:ln>
        </p:spPr>
        <p:txBody>
          <a:bodyPr/>
          <a:lstStyle/>
          <a:p>
            <a:endParaRPr lang="en-US"/>
          </a:p>
        </p:txBody>
      </p:sp>
      <p:pic>
        <p:nvPicPr>
          <p:cNvPr id="4" name="Image 0" descr="Points forming a hump with a nearly flat straight line that misses the pattern"/>
          <p:cNvPicPr>
            <a:picLocks noChangeAspect="1"/>
          </p:cNvPicPr>
          <p:nvPr/>
        </p:nvPicPr>
        <p:blipFill>
          <a:blip r:embed="rId3"/>
          <a:srcRect/>
          <a:stretch/>
        </p:blipFill>
        <p:spPr>
          <a:xfrm>
            <a:off x="1022350" y="1779191"/>
            <a:ext cx="2876550" cy="1587500"/>
          </a:xfrm>
          <a:prstGeom prst="rect">
            <a:avLst/>
          </a:prstGeom>
        </p:spPr>
      </p:pic>
      <p:sp>
        <p:nvSpPr>
          <p:cNvPr id="5" name="Text 2"/>
          <p:cNvSpPr/>
          <p:nvPr/>
        </p:nvSpPr>
        <p:spPr>
          <a:xfrm>
            <a:off x="1022350" y="3442891"/>
            <a:ext cx="305656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Underfit</a:t>
            </a:r>
            <a:endParaRPr lang="en-US" sz="2200" dirty="0"/>
          </a:p>
        </p:txBody>
      </p:sp>
      <p:sp>
        <p:nvSpPr>
          <p:cNvPr id="6" name="Text 3"/>
          <p:cNvSpPr/>
          <p:nvPr/>
        </p:nvSpPr>
        <p:spPr>
          <a:xfrm>
            <a:off x="1022350" y="3840361"/>
            <a:ext cx="305656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Too simple</a:t>
            </a:r>
            <a:endParaRPr lang="en-US" sz="1600" dirty="0"/>
          </a:p>
        </p:txBody>
      </p:sp>
      <p:sp>
        <p:nvSpPr>
          <p:cNvPr id="7" name="Text 4"/>
          <p:cNvSpPr/>
          <p:nvPr/>
        </p:nvSpPr>
        <p:spPr>
          <a:xfrm>
            <a:off x="1022350" y="4201021"/>
            <a:ext cx="305656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Train error: high</a:t>
            </a:r>
            <a:endParaRPr lang="en-US" sz="1600" dirty="0"/>
          </a:p>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Validation error: high</a:t>
            </a:r>
            <a:endParaRPr lang="en-US" sz="1600" dirty="0"/>
          </a:p>
        </p:txBody>
      </p:sp>
      <p:sp>
        <p:nvSpPr>
          <p:cNvPr id="8" name="Shape 5"/>
          <p:cNvSpPr/>
          <p:nvPr/>
        </p:nvSpPr>
        <p:spPr>
          <a:xfrm>
            <a:off x="4412159" y="1579166"/>
            <a:ext cx="3367683" cy="3390801"/>
          </a:xfrm>
          <a:prstGeom prst="roundRect">
            <a:avLst>
              <a:gd name="adj" fmla="val 4243"/>
            </a:avLst>
          </a:prstGeom>
          <a:solidFill>
            <a:srgbClr val="FFFDF8"/>
          </a:solidFill>
          <a:ln w="19050">
            <a:solidFill>
              <a:srgbClr val="2F5BEA"/>
            </a:solidFill>
            <a:prstDash val="solid"/>
          </a:ln>
        </p:spPr>
        <p:txBody>
          <a:bodyPr/>
          <a:lstStyle/>
          <a:p>
            <a:endParaRPr lang="en-US"/>
          </a:p>
        </p:txBody>
      </p:sp>
      <p:pic>
        <p:nvPicPr>
          <p:cNvPr id="9" name="Image 1" descr="Points forming a hump with a smooth curve that follows the trend"/>
          <p:cNvPicPr>
            <a:picLocks noChangeAspect="1"/>
          </p:cNvPicPr>
          <p:nvPr/>
        </p:nvPicPr>
        <p:blipFill>
          <a:blip r:embed="rId4"/>
          <a:srcRect/>
          <a:stretch/>
        </p:blipFill>
        <p:spPr>
          <a:xfrm>
            <a:off x="4612184" y="1779191"/>
            <a:ext cx="2876550" cy="1587500"/>
          </a:xfrm>
          <a:prstGeom prst="rect">
            <a:avLst/>
          </a:prstGeom>
        </p:spPr>
      </p:pic>
      <p:sp>
        <p:nvSpPr>
          <p:cNvPr id="10" name="Text 6"/>
          <p:cNvSpPr/>
          <p:nvPr/>
        </p:nvSpPr>
        <p:spPr>
          <a:xfrm>
            <a:off x="4612184" y="3442891"/>
            <a:ext cx="305666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Good fit</a:t>
            </a:r>
            <a:endParaRPr lang="en-US" sz="2200" dirty="0"/>
          </a:p>
        </p:txBody>
      </p:sp>
      <p:sp>
        <p:nvSpPr>
          <p:cNvPr id="11" name="Text 7"/>
          <p:cNvSpPr/>
          <p:nvPr/>
        </p:nvSpPr>
        <p:spPr>
          <a:xfrm>
            <a:off x="4612184" y="3840361"/>
            <a:ext cx="305666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Follows the trend</a:t>
            </a:r>
            <a:endParaRPr lang="en-US" sz="1600" dirty="0"/>
          </a:p>
        </p:txBody>
      </p:sp>
      <p:sp>
        <p:nvSpPr>
          <p:cNvPr id="12" name="Text 8"/>
          <p:cNvSpPr/>
          <p:nvPr/>
        </p:nvSpPr>
        <p:spPr>
          <a:xfrm>
            <a:off x="4612184" y="4201021"/>
            <a:ext cx="305666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Train error: low</a:t>
            </a:r>
            <a:endParaRPr lang="en-US" sz="1600" dirty="0"/>
          </a:p>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Validation error: low</a:t>
            </a:r>
            <a:endParaRPr lang="en-US" sz="1600" dirty="0"/>
          </a:p>
        </p:txBody>
      </p:sp>
      <p:sp>
        <p:nvSpPr>
          <p:cNvPr id="13" name="Shape 9"/>
          <p:cNvSpPr/>
          <p:nvPr/>
        </p:nvSpPr>
        <p:spPr>
          <a:xfrm>
            <a:off x="7995741" y="1572816"/>
            <a:ext cx="3380284" cy="3403501"/>
          </a:xfrm>
          <a:prstGeom prst="roundRect">
            <a:avLst>
              <a:gd name="adj" fmla="val 4415"/>
            </a:avLst>
          </a:prstGeom>
          <a:solidFill>
            <a:srgbClr val="FFFDF8"/>
          </a:solidFill>
          <a:ln w="6350">
            <a:solidFill>
              <a:srgbClr val="D9D3C2"/>
            </a:solidFill>
            <a:prstDash val="solid"/>
          </a:ln>
        </p:spPr>
        <p:txBody>
          <a:bodyPr/>
          <a:lstStyle/>
          <a:p>
            <a:endParaRPr lang="en-US"/>
          </a:p>
        </p:txBody>
      </p:sp>
      <p:pic>
        <p:nvPicPr>
          <p:cNvPr id="14" name="Image 2" descr="Points forming a hump with a zig-zag line that passes through every point"/>
          <p:cNvPicPr>
            <a:picLocks noChangeAspect="1"/>
          </p:cNvPicPr>
          <p:nvPr/>
        </p:nvPicPr>
        <p:blipFill>
          <a:blip r:embed="rId5"/>
          <a:srcRect/>
          <a:stretch/>
        </p:blipFill>
        <p:spPr>
          <a:xfrm>
            <a:off x="8202116" y="1779191"/>
            <a:ext cx="2876550" cy="1587500"/>
          </a:xfrm>
          <a:prstGeom prst="rect">
            <a:avLst/>
          </a:prstGeom>
        </p:spPr>
      </p:pic>
      <p:sp>
        <p:nvSpPr>
          <p:cNvPr id="15" name="Text 10"/>
          <p:cNvSpPr/>
          <p:nvPr/>
        </p:nvSpPr>
        <p:spPr>
          <a:xfrm>
            <a:off x="8202116" y="3442891"/>
            <a:ext cx="305656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Overfit</a:t>
            </a:r>
            <a:endParaRPr lang="en-US" sz="2200" dirty="0"/>
          </a:p>
        </p:txBody>
      </p:sp>
      <p:sp>
        <p:nvSpPr>
          <p:cNvPr id="16" name="Text 11"/>
          <p:cNvSpPr/>
          <p:nvPr/>
        </p:nvSpPr>
        <p:spPr>
          <a:xfrm>
            <a:off x="8202116" y="3840361"/>
            <a:ext cx="305656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Memorizes the noise</a:t>
            </a:r>
            <a:endParaRPr lang="en-US" sz="1600" dirty="0"/>
          </a:p>
        </p:txBody>
      </p:sp>
      <p:sp>
        <p:nvSpPr>
          <p:cNvPr id="17" name="Text 12"/>
          <p:cNvSpPr/>
          <p:nvPr/>
        </p:nvSpPr>
        <p:spPr>
          <a:xfrm>
            <a:off x="8202116" y="4201021"/>
            <a:ext cx="305656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Train error: tiny</a:t>
            </a:r>
            <a:endParaRPr lang="en-US" sz="1600" dirty="0"/>
          </a:p>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Validation error: high</a:t>
            </a:r>
            <a:endParaRPr lang="en-US" sz="1600" dirty="0"/>
          </a:p>
        </p:txBody>
      </p:sp>
      <p:sp>
        <p:nvSpPr>
          <p:cNvPr id="18"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Blue dots = training data · orange = the model’s fit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Finding the sweet spot</a:t>
            </a:r>
            <a:endParaRPr lang="en-US" sz="3600" dirty="0"/>
          </a:p>
        </p:txBody>
      </p:sp>
      <p:pic>
        <p:nvPicPr>
          <p:cNvPr id="3" name="Image 0" descr="Chart of error against model complexity: training error keeps falling while validation error falls then rises, with the lowest validation error marked by a dashed line"/>
          <p:cNvPicPr>
            <a:picLocks noChangeAspect="1"/>
          </p:cNvPicPr>
          <p:nvPr/>
        </p:nvPicPr>
        <p:blipFill>
          <a:blip r:embed="rId3"/>
          <a:srcRect/>
          <a:stretch/>
        </p:blipFill>
        <p:spPr>
          <a:xfrm>
            <a:off x="812800" y="1569641"/>
            <a:ext cx="6350000" cy="3302000"/>
          </a:xfrm>
          <a:prstGeom prst="rect">
            <a:avLst/>
          </a:prstGeom>
        </p:spPr>
      </p:pic>
      <p:sp>
        <p:nvSpPr>
          <p:cNvPr id="4" name="Text 1"/>
          <p:cNvSpPr/>
          <p:nvPr/>
        </p:nvSpPr>
        <p:spPr>
          <a:xfrm>
            <a:off x="1384300" y="1925241"/>
            <a:ext cx="196215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2F5BEA"/>
                </a:solidFill>
                <a:latin typeface="DM Sans" pitchFamily="34" charset="0"/>
                <a:ea typeface="DM Sans" pitchFamily="34" charset="-122"/>
                <a:cs typeface="DM Sans" pitchFamily="34" charset="-120"/>
              </a:rPr>
              <a:t>Underfit</a:t>
            </a:r>
            <a:endParaRPr lang="en-US" sz="1600" dirty="0"/>
          </a:p>
        </p:txBody>
      </p:sp>
      <p:sp>
        <p:nvSpPr>
          <p:cNvPr id="5" name="Text 2"/>
          <p:cNvSpPr/>
          <p:nvPr/>
        </p:nvSpPr>
        <p:spPr>
          <a:xfrm>
            <a:off x="3962400" y="1925241"/>
            <a:ext cx="1574800"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4182B"/>
                </a:solidFill>
                <a:latin typeface="DM Sans" pitchFamily="34" charset="0"/>
                <a:ea typeface="DM Sans" pitchFamily="34" charset="-122"/>
                <a:cs typeface="DM Sans" pitchFamily="34" charset="-120"/>
              </a:rPr>
              <a:t>Sweet spot</a:t>
            </a:r>
            <a:endParaRPr lang="en-US" sz="1600" dirty="0"/>
          </a:p>
        </p:txBody>
      </p:sp>
      <p:sp>
        <p:nvSpPr>
          <p:cNvPr id="6" name="Text 3"/>
          <p:cNvSpPr/>
          <p:nvPr/>
        </p:nvSpPr>
        <p:spPr>
          <a:xfrm>
            <a:off x="5334000" y="1925241"/>
            <a:ext cx="1447800" cy="289520"/>
          </a:xfrm>
          <a:prstGeom prst="rect">
            <a:avLst/>
          </a:prstGeom>
          <a:noFill/>
          <a:ln/>
        </p:spPr>
        <p:txBody>
          <a:bodyPr wrap="square" lIns="0" tIns="0" rIns="0" bIns="0" rtlCol="0" anchor="t">
            <a:normAutofit/>
          </a:bodyPr>
          <a:lstStyle/>
          <a:p>
            <a:pPr marL="0" indent="0" algn="r">
              <a:lnSpc>
                <a:spcPts val="2080"/>
              </a:lnSpc>
              <a:buNone/>
            </a:pPr>
            <a:r>
              <a:rPr lang="en-US" sz="1600" b="1" dirty="0">
                <a:solidFill>
                  <a:srgbClr val="C2410C"/>
                </a:solidFill>
                <a:latin typeface="DM Sans" pitchFamily="34" charset="0"/>
                <a:ea typeface="DM Sans" pitchFamily="34" charset="-122"/>
                <a:cs typeface="DM Sans" pitchFamily="34" charset="-120"/>
              </a:rPr>
              <a:t>Overfit</a:t>
            </a:r>
            <a:endParaRPr lang="en-US" sz="1600" dirty="0"/>
          </a:p>
        </p:txBody>
      </p:sp>
      <p:sp>
        <p:nvSpPr>
          <p:cNvPr id="7" name="Text 4"/>
          <p:cNvSpPr/>
          <p:nvPr/>
        </p:nvSpPr>
        <p:spPr>
          <a:xfrm>
            <a:off x="1108075" y="4592241"/>
            <a:ext cx="5886450" cy="223441"/>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5F6478"/>
                </a:solidFill>
                <a:latin typeface="DM Sans" pitchFamily="34" charset="0"/>
                <a:ea typeface="DM Sans" pitchFamily="34" charset="-122"/>
                <a:cs typeface="DM Sans" pitchFamily="34" charset="-120"/>
              </a:rPr>
              <a:t>Model complexity: simple → flexible · vertical axis: error</a:t>
            </a:r>
            <a:endParaRPr lang="en-US" sz="1200" dirty="0"/>
          </a:p>
        </p:txBody>
      </p:sp>
      <p:sp>
        <p:nvSpPr>
          <p:cNvPr id="8" name="Shape 5"/>
          <p:cNvSpPr/>
          <p:nvPr/>
        </p:nvSpPr>
        <p:spPr>
          <a:xfrm>
            <a:off x="7569200" y="2185591"/>
            <a:ext cx="355600" cy="63500"/>
          </a:xfrm>
          <a:prstGeom prst="roundRect">
            <a:avLst>
              <a:gd name="adj" fmla="val 50000"/>
            </a:avLst>
          </a:prstGeom>
          <a:solidFill>
            <a:srgbClr val="2F5BEA"/>
          </a:solidFill>
          <a:ln/>
        </p:spPr>
        <p:txBody>
          <a:bodyPr/>
          <a:lstStyle/>
          <a:p>
            <a:endParaRPr lang="en-US"/>
          </a:p>
        </p:txBody>
      </p:sp>
      <p:sp>
        <p:nvSpPr>
          <p:cNvPr id="9" name="Text 6"/>
          <p:cNvSpPr/>
          <p:nvPr/>
        </p:nvSpPr>
        <p:spPr>
          <a:xfrm>
            <a:off x="8026400" y="2075160"/>
            <a:ext cx="1492806"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182B"/>
                </a:solidFill>
                <a:latin typeface="DM Sans" pitchFamily="34" charset="0"/>
                <a:ea typeface="DM Sans" pitchFamily="34" charset="-122"/>
                <a:cs typeface="DM Sans" pitchFamily="34" charset="-120"/>
              </a:rPr>
              <a:t>Training error</a:t>
            </a:r>
            <a:endParaRPr lang="en-US" sz="1600" dirty="0"/>
          </a:p>
        </p:txBody>
      </p:sp>
      <p:sp>
        <p:nvSpPr>
          <p:cNvPr id="10" name="Shape 7"/>
          <p:cNvSpPr/>
          <p:nvPr/>
        </p:nvSpPr>
        <p:spPr>
          <a:xfrm>
            <a:off x="7569200" y="2546251"/>
            <a:ext cx="355600" cy="63500"/>
          </a:xfrm>
          <a:prstGeom prst="roundRect">
            <a:avLst>
              <a:gd name="adj" fmla="val 50000"/>
            </a:avLst>
          </a:prstGeom>
          <a:solidFill>
            <a:srgbClr val="C2410C"/>
          </a:solidFill>
          <a:ln/>
        </p:spPr>
        <p:txBody>
          <a:bodyPr/>
          <a:lstStyle/>
          <a:p>
            <a:endParaRPr lang="en-US"/>
          </a:p>
        </p:txBody>
      </p:sp>
      <p:sp>
        <p:nvSpPr>
          <p:cNvPr id="11" name="Text 8"/>
          <p:cNvSpPr/>
          <p:nvPr/>
        </p:nvSpPr>
        <p:spPr>
          <a:xfrm>
            <a:off x="8026400" y="2435820"/>
            <a:ext cx="1729859"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182B"/>
                </a:solidFill>
                <a:latin typeface="DM Sans" pitchFamily="34" charset="0"/>
                <a:ea typeface="DM Sans" pitchFamily="34" charset="-122"/>
                <a:cs typeface="DM Sans" pitchFamily="34" charset="-120"/>
              </a:rPr>
              <a:t>Validation error</a:t>
            </a:r>
            <a:endParaRPr lang="en-US" sz="1600" dirty="0"/>
          </a:p>
        </p:txBody>
      </p:sp>
      <p:sp>
        <p:nvSpPr>
          <p:cNvPr id="12" name="Text 9"/>
          <p:cNvSpPr/>
          <p:nvPr/>
        </p:nvSpPr>
        <p:spPr>
          <a:xfrm>
            <a:off x="7569200" y="2923480"/>
            <a:ext cx="3924300" cy="69592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182B"/>
                </a:solidFill>
                <a:latin typeface="DM Sans" pitchFamily="34" charset="0"/>
                <a:ea typeface="DM Sans" pitchFamily="34" charset="-122"/>
                <a:cs typeface="DM Sans" pitchFamily="34" charset="-120"/>
              </a:rPr>
              <a:t>Pick the model with the lowest validation error.</a:t>
            </a:r>
            <a:endParaRPr lang="en-US" sz="2200" dirty="0"/>
          </a:p>
        </p:txBody>
      </p:sp>
      <p:sp>
        <p:nvSpPr>
          <p:cNvPr id="13" name="Text 10"/>
          <p:cNvSpPr/>
          <p:nvPr/>
        </p:nvSpPr>
        <p:spPr>
          <a:xfrm>
            <a:off x="7569200" y="3797201"/>
            <a:ext cx="39243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Training error keeps falling, so it can’t warn you.</a:t>
            </a:r>
            <a:endParaRPr lang="en-US" sz="16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Intro to Machine Learning · Weeks 1–2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82B"/>
        </a:solidFill>
        <a:effectLst/>
      </p:bgPr>
    </p:bg>
    <p:spTree>
      <p:nvGrpSpPr>
        <p:cNvPr id="1" name=""/>
        <p:cNvGrpSpPr/>
        <p:nvPr/>
      </p:nvGrpSpPr>
      <p:grpSpPr>
        <a:xfrm>
          <a:off x="0" y="0"/>
          <a:ext cx="0" cy="0"/>
          <a:chOff x="0" y="0"/>
          <a:chExt cx="0" cy="0"/>
        </a:xfrm>
      </p:grpSpPr>
      <p:sp>
        <p:nvSpPr>
          <p:cNvPr id="2" name="Text 0"/>
          <p:cNvSpPr/>
          <p:nvPr/>
        </p:nvSpPr>
        <p:spPr>
          <a:xfrm>
            <a:off x="812800" y="185628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F9A5C"/>
                </a:solidFill>
                <a:latin typeface="DM Sans" pitchFamily="34" charset="0"/>
                <a:ea typeface="DM Sans" pitchFamily="34" charset="-122"/>
                <a:cs typeface="DM Sans" pitchFamily="34" charset="-120"/>
              </a:rPr>
              <a:t>OUR FIRST ALGORITHM</a:t>
            </a:r>
            <a:endParaRPr lang="en-US" sz="1200" dirty="0"/>
          </a:p>
        </p:txBody>
      </p:sp>
      <p:sp>
        <p:nvSpPr>
          <p:cNvPr id="3" name="Text 1"/>
          <p:cNvSpPr>
            <a:spLocks noGrp="1"/>
          </p:cNvSpPr>
          <p:nvPr>
            <p:ph type="title"/>
          </p:nvPr>
        </p:nvSpPr>
        <p:spPr>
          <a:xfrm>
            <a:off x="812800" y="2374404"/>
            <a:ext cx="10883392" cy="793452"/>
          </a:xfrm>
          <a:prstGeom prst="rect">
            <a:avLst/>
          </a:prstGeom>
          <a:noFill/>
          <a:ln/>
        </p:spPr>
        <p:txBody>
          <a:bodyPr wrap="square" lIns="0" tIns="0" rIns="0" bIns="0" rtlCol="0" anchor="t">
            <a:normAutofit/>
          </a:bodyPr>
          <a:lstStyle/>
          <a:p>
            <a:pPr marL="0" indent="0" algn="l">
              <a:lnSpc>
                <a:spcPts val="6048"/>
              </a:lnSpc>
              <a:buNone/>
            </a:pPr>
            <a:r>
              <a:rPr lang="en-US" sz="5600" b="1" i="0" kern="0" spc="-100" dirty="0">
                <a:solidFill>
                  <a:srgbClr val="F5F2EA"/>
                </a:solidFill>
                <a:latin typeface="DM Sans" pitchFamily="34" charset="0"/>
                <a:ea typeface="DM Sans" pitchFamily="34" charset="-122"/>
                <a:cs typeface="DM Sans" pitchFamily="34" charset="-120"/>
              </a:rPr>
              <a:t>Learning by similarity</a:t>
            </a:r>
            <a:endParaRPr lang="en-US" sz="5600" dirty="0"/>
          </a:p>
        </p:txBody>
      </p:sp>
      <p:sp>
        <p:nvSpPr>
          <p:cNvPr id="4" name="Text 2"/>
          <p:cNvSpPr/>
          <p:nvPr/>
        </p:nvSpPr>
        <p:spPr>
          <a:xfrm>
            <a:off x="812800" y="3447256"/>
            <a:ext cx="10883392" cy="38854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CEE0"/>
                </a:solidFill>
                <a:latin typeface="DM Sans" pitchFamily="34" charset="0"/>
                <a:ea typeface="DM Sans" pitchFamily="34" charset="-122"/>
                <a:cs typeface="DM Sans" pitchFamily="34" charset="-120"/>
              </a:rPr>
              <a:t>New in town? Ask people like you, then do what most of them do.</a:t>
            </a:r>
            <a:endParaRPr lang="en-US" sz="2200" dirty="0"/>
          </a:p>
        </p:txBody>
      </p:sp>
      <p:sp>
        <p:nvSpPr>
          <p:cNvPr id="5" name="Text 3"/>
          <p:cNvSpPr/>
          <p:nvPr/>
        </p:nvSpPr>
        <p:spPr>
          <a:xfrm>
            <a:off x="812800" y="4115197"/>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EE0"/>
                </a:solidFill>
                <a:latin typeface="DM Sans" pitchFamily="34" charset="0"/>
                <a:ea typeface="DM Sans" pitchFamily="34" charset="-122"/>
                <a:cs typeface="DM Sans" pitchFamily="34" charset="-120"/>
              </a:rPr>
              <a:t>k-Nearest Neighbors lets us see all of these in one small algorithm:</a:t>
            </a:r>
            <a:endParaRPr lang="en-US" sz="1600" dirty="0"/>
          </a:p>
        </p:txBody>
      </p:sp>
      <p:sp>
        <p:nvSpPr>
          <p:cNvPr id="6" name="Text 4"/>
          <p:cNvSpPr/>
          <p:nvPr/>
        </p:nvSpPr>
        <p:spPr>
          <a:xfrm>
            <a:off x="815975" y="4529832"/>
            <a:ext cx="1174353"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Features</a:t>
            </a:r>
            <a:endParaRPr lang="en-US" sz="1600" dirty="0"/>
          </a:p>
        </p:txBody>
      </p:sp>
      <p:sp>
        <p:nvSpPr>
          <p:cNvPr id="7" name="Text 5"/>
          <p:cNvSpPr/>
          <p:nvPr/>
        </p:nvSpPr>
        <p:spPr>
          <a:xfrm>
            <a:off x="2123678" y="4529832"/>
            <a:ext cx="969566"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Labels</a:t>
            </a:r>
            <a:endParaRPr lang="en-US" sz="1600" dirty="0"/>
          </a:p>
        </p:txBody>
      </p:sp>
      <p:sp>
        <p:nvSpPr>
          <p:cNvPr id="8" name="Text 6"/>
          <p:cNvSpPr/>
          <p:nvPr/>
        </p:nvSpPr>
        <p:spPr>
          <a:xfrm>
            <a:off x="3226594" y="4529832"/>
            <a:ext cx="1186557"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Distance</a:t>
            </a:r>
            <a:endParaRPr lang="en-US" sz="1600" dirty="0"/>
          </a:p>
        </p:txBody>
      </p:sp>
      <p:sp>
        <p:nvSpPr>
          <p:cNvPr id="9" name="Text 7"/>
          <p:cNvSpPr/>
          <p:nvPr/>
        </p:nvSpPr>
        <p:spPr>
          <a:xfrm>
            <a:off x="4546501" y="4529832"/>
            <a:ext cx="1652091"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The value of k</a:t>
            </a:r>
            <a:endParaRPr lang="en-US" sz="1600" dirty="0"/>
          </a:p>
        </p:txBody>
      </p:sp>
      <p:sp>
        <p:nvSpPr>
          <p:cNvPr id="10" name="Text 8"/>
          <p:cNvSpPr/>
          <p:nvPr/>
        </p:nvSpPr>
        <p:spPr>
          <a:xfrm>
            <a:off x="6331942" y="4529832"/>
            <a:ext cx="1910556"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Train / validation</a:t>
            </a:r>
            <a:endParaRPr lang="en-US" sz="1600" dirty="0"/>
          </a:p>
        </p:txBody>
      </p:sp>
      <p:sp>
        <p:nvSpPr>
          <p:cNvPr id="11" name="Text 9"/>
          <p:cNvSpPr/>
          <p:nvPr/>
        </p:nvSpPr>
        <p:spPr>
          <a:xfrm>
            <a:off x="8375848" y="4529832"/>
            <a:ext cx="1364357"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Overfitting</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k-Nearest Neighbors</a:t>
            </a:r>
            <a:endParaRPr lang="en-US" sz="3600" dirty="0"/>
          </a:p>
        </p:txBody>
      </p:sp>
      <p:sp>
        <p:nvSpPr>
          <p:cNvPr id="3" name="Shape 1"/>
          <p:cNvSpPr/>
          <p:nvPr/>
        </p:nvSpPr>
        <p:spPr>
          <a:xfrm>
            <a:off x="815975" y="1572816"/>
            <a:ext cx="5073650" cy="4115991"/>
          </a:xfrm>
          <a:prstGeom prst="roundRect">
            <a:avLst>
              <a:gd name="adj" fmla="val 3625"/>
            </a:avLst>
          </a:prstGeom>
          <a:solidFill>
            <a:srgbClr val="FFFDF8"/>
          </a:solidFill>
          <a:ln w="6350">
            <a:solidFill>
              <a:srgbClr val="D9D3C2"/>
            </a:solidFill>
            <a:prstDash val="solid"/>
          </a:ln>
        </p:spPr>
        <p:txBody>
          <a:bodyPr/>
          <a:lstStyle/>
          <a:p>
            <a:endParaRPr lang="en-US"/>
          </a:p>
        </p:txBody>
      </p:sp>
      <p:pic>
        <p:nvPicPr>
          <p:cNvPr id="4" name="Image 0" descr="Blue circles and orange squares on a plane with a new black diamond point; a dashed circle around the diamond contains its three nearest neighbors, two blue and one orange"/>
          <p:cNvPicPr>
            <a:picLocks noChangeAspect="1"/>
          </p:cNvPicPr>
          <p:nvPr/>
        </p:nvPicPr>
        <p:blipFill>
          <a:blip r:embed="rId3"/>
          <a:srcRect/>
          <a:stretch/>
        </p:blipFill>
        <p:spPr>
          <a:xfrm>
            <a:off x="819150" y="1575991"/>
            <a:ext cx="5080000" cy="3429000"/>
          </a:xfrm>
          <a:custGeom>
            <a:avLst/>
            <a:gdLst/>
            <a:ahLst/>
            <a:cxnLst/>
            <a:rect l="l" t="t" r="r" b="b"/>
            <a:pathLst>
              <a:path w="5080000" h="3429000">
                <a:moveTo>
                  <a:pt x="0" y="146050"/>
                </a:moveTo>
                <a:arcTo wR="146050" hR="146050" stAng="10800000" swAng="5400000"/>
                <a:lnTo>
                  <a:pt x="5080000" y="0"/>
                </a:lnTo>
                <a:lnTo>
                  <a:pt x="5080000" y="3429000"/>
                </a:lnTo>
                <a:lnTo>
                  <a:pt x="0" y="3429000"/>
                </a:lnTo>
                <a:close/>
              </a:path>
            </a:pathLst>
          </a:custGeom>
        </p:spPr>
      </p:pic>
      <p:sp>
        <p:nvSpPr>
          <p:cNvPr id="5" name="Shape 2"/>
          <p:cNvSpPr/>
          <p:nvPr/>
        </p:nvSpPr>
        <p:spPr>
          <a:xfrm>
            <a:off x="1022350" y="5269111"/>
            <a:ext cx="152400" cy="152400"/>
          </a:xfrm>
          <a:prstGeom prst="roundRect">
            <a:avLst>
              <a:gd name="adj" fmla="val 50000"/>
            </a:avLst>
          </a:prstGeom>
          <a:solidFill>
            <a:srgbClr val="2F5BEA"/>
          </a:solidFill>
          <a:ln/>
        </p:spPr>
        <p:txBody>
          <a:bodyPr/>
          <a:lstStyle/>
          <a:p>
            <a:endParaRPr lang="en-US"/>
          </a:p>
        </p:txBody>
      </p:sp>
      <p:sp>
        <p:nvSpPr>
          <p:cNvPr id="6" name="Text 3"/>
          <p:cNvSpPr/>
          <p:nvPr/>
        </p:nvSpPr>
        <p:spPr>
          <a:xfrm>
            <a:off x="1250950" y="5131991"/>
            <a:ext cx="54133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182B"/>
                </a:solidFill>
                <a:latin typeface="DM Sans" pitchFamily="34" charset="0"/>
                <a:ea typeface="DM Sans" pitchFamily="34" charset="-122"/>
                <a:cs typeface="DM Sans" pitchFamily="34" charset="-120"/>
              </a:rPr>
              <a:t>Class A</a:t>
            </a:r>
            <a:endParaRPr lang="en-US" sz="1200" dirty="0"/>
          </a:p>
        </p:txBody>
      </p:sp>
      <p:sp>
        <p:nvSpPr>
          <p:cNvPr id="7" name="Shape 4"/>
          <p:cNvSpPr/>
          <p:nvPr/>
        </p:nvSpPr>
        <p:spPr>
          <a:xfrm>
            <a:off x="1944688" y="5269111"/>
            <a:ext cx="152400" cy="152400"/>
          </a:xfrm>
          <a:prstGeom prst="rect">
            <a:avLst/>
          </a:prstGeom>
          <a:solidFill>
            <a:srgbClr val="C2410C"/>
          </a:solidFill>
          <a:ln/>
        </p:spPr>
        <p:txBody>
          <a:bodyPr/>
          <a:lstStyle/>
          <a:p>
            <a:endParaRPr lang="en-US"/>
          </a:p>
        </p:txBody>
      </p:sp>
      <p:sp>
        <p:nvSpPr>
          <p:cNvPr id="8" name="Text 5"/>
          <p:cNvSpPr/>
          <p:nvPr/>
        </p:nvSpPr>
        <p:spPr>
          <a:xfrm>
            <a:off x="2173288" y="5131991"/>
            <a:ext cx="5324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182B"/>
                </a:solidFill>
                <a:latin typeface="DM Sans" pitchFamily="34" charset="0"/>
                <a:ea typeface="DM Sans" pitchFamily="34" charset="-122"/>
                <a:cs typeface="DM Sans" pitchFamily="34" charset="-120"/>
              </a:rPr>
              <a:t>Class B</a:t>
            </a:r>
            <a:endParaRPr lang="en-US" sz="1200" dirty="0"/>
          </a:p>
        </p:txBody>
      </p:sp>
      <p:pic>
        <p:nvPicPr>
          <p:cNvPr id="9" name="Image 1" descr="diamond"/>
          <p:cNvPicPr>
            <a:picLocks noChangeAspect="1"/>
          </p:cNvPicPr>
          <p:nvPr/>
        </p:nvPicPr>
        <p:blipFill>
          <a:blip r:embed="rId4"/>
          <a:srcRect t="-320" b="-320"/>
          <a:stretch/>
        </p:blipFill>
        <p:spPr>
          <a:xfrm>
            <a:off x="2858095" y="5256411"/>
            <a:ext cx="170359" cy="177800"/>
          </a:xfrm>
          <a:prstGeom prst="rect">
            <a:avLst/>
          </a:prstGeom>
        </p:spPr>
      </p:pic>
      <p:sp>
        <p:nvSpPr>
          <p:cNvPr id="10" name="Text 6"/>
          <p:cNvSpPr/>
          <p:nvPr/>
        </p:nvSpPr>
        <p:spPr>
          <a:xfrm>
            <a:off x="3104654" y="5131991"/>
            <a:ext cx="2655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182B"/>
                </a:solidFill>
                <a:latin typeface="DM Sans" pitchFamily="34" charset="0"/>
                <a:ea typeface="DM Sans" pitchFamily="34" charset="-122"/>
                <a:cs typeface="DM Sans" pitchFamily="34" charset="-120"/>
              </a:rPr>
              <a:t>New point: k = 3, so 2 A + 1 B, predict A</a:t>
            </a:r>
            <a:endParaRPr lang="en-US" sz="1200" dirty="0"/>
          </a:p>
        </p:txBody>
      </p:sp>
      <p:sp>
        <p:nvSpPr>
          <p:cNvPr id="11" name="Text 7"/>
          <p:cNvSpPr/>
          <p:nvPr/>
        </p:nvSpPr>
        <p:spPr>
          <a:xfrm>
            <a:off x="6299200" y="255131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1</a:t>
            </a:r>
            <a:endParaRPr lang="en-US" sz="1600" dirty="0"/>
          </a:p>
        </p:txBody>
      </p:sp>
      <p:sp>
        <p:nvSpPr>
          <p:cNvPr id="12" name="Text 8"/>
          <p:cNvSpPr/>
          <p:nvPr/>
        </p:nvSpPr>
        <p:spPr>
          <a:xfrm>
            <a:off x="6858000" y="2617391"/>
            <a:ext cx="3193494" cy="29964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Pick k</a:t>
            </a:r>
            <a:r>
              <a:rPr lang="en-US" sz="1600" dirty="0">
                <a:solidFill>
                  <a:srgbClr val="14182B"/>
                </a:solidFill>
                <a:latin typeface="DM Sans" pitchFamily="34" charset="0"/>
                <a:ea typeface="DM Sans" pitchFamily="34" charset="-122"/>
                <a:cs typeface="DM Sans" pitchFamily="34" charset="-120"/>
              </a:rPr>
              <a:t>, the number of voters</a:t>
            </a:r>
            <a:endParaRPr lang="en-US" sz="1600" dirty="0"/>
          </a:p>
        </p:txBody>
      </p:sp>
      <p:sp>
        <p:nvSpPr>
          <p:cNvPr id="13" name="Text 9"/>
          <p:cNvSpPr/>
          <p:nvPr/>
        </p:nvSpPr>
        <p:spPr>
          <a:xfrm>
            <a:off x="6299200" y="313551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2</a:t>
            </a:r>
            <a:endParaRPr lang="en-US" sz="1600" dirty="0"/>
          </a:p>
        </p:txBody>
      </p:sp>
      <p:sp>
        <p:nvSpPr>
          <p:cNvPr id="14" name="Text 10"/>
          <p:cNvSpPr/>
          <p:nvPr/>
        </p:nvSpPr>
        <p:spPr>
          <a:xfrm>
            <a:off x="6858000" y="3201591"/>
            <a:ext cx="4629031" cy="29964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Measure</a:t>
            </a:r>
            <a:r>
              <a:rPr lang="en-US" sz="1600" dirty="0">
                <a:solidFill>
                  <a:srgbClr val="14182B"/>
                </a:solidFill>
                <a:latin typeface="DM Sans" pitchFamily="34" charset="0"/>
                <a:ea typeface="DM Sans" pitchFamily="34" charset="-122"/>
                <a:cs typeface="DM Sans" pitchFamily="34" charset="-120"/>
              </a:rPr>
              <a:t> distance to every training point</a:t>
            </a:r>
            <a:endParaRPr lang="en-US" sz="1600" dirty="0"/>
          </a:p>
        </p:txBody>
      </p:sp>
      <p:sp>
        <p:nvSpPr>
          <p:cNvPr id="15" name="Text 11"/>
          <p:cNvSpPr/>
          <p:nvPr/>
        </p:nvSpPr>
        <p:spPr>
          <a:xfrm>
            <a:off x="6299200" y="371971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3</a:t>
            </a:r>
            <a:endParaRPr lang="en-US" sz="1600" dirty="0"/>
          </a:p>
        </p:txBody>
      </p:sp>
      <p:sp>
        <p:nvSpPr>
          <p:cNvPr id="16" name="Text 12"/>
          <p:cNvSpPr/>
          <p:nvPr/>
        </p:nvSpPr>
        <p:spPr>
          <a:xfrm>
            <a:off x="6858000" y="3785791"/>
            <a:ext cx="2048708" cy="29964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Take</a:t>
            </a:r>
            <a:r>
              <a:rPr lang="en-US" sz="1600" dirty="0">
                <a:solidFill>
                  <a:srgbClr val="14182B"/>
                </a:solidFill>
                <a:latin typeface="DM Sans" pitchFamily="34" charset="0"/>
                <a:ea typeface="DM Sans" pitchFamily="34" charset="-122"/>
                <a:cs typeface="DM Sans" pitchFamily="34" charset="-120"/>
              </a:rPr>
              <a:t> the k closest</a:t>
            </a:r>
            <a:endParaRPr lang="en-US" sz="1600" dirty="0"/>
          </a:p>
        </p:txBody>
      </p:sp>
      <p:sp>
        <p:nvSpPr>
          <p:cNvPr id="17" name="Text 13"/>
          <p:cNvSpPr/>
          <p:nvPr/>
        </p:nvSpPr>
        <p:spPr>
          <a:xfrm>
            <a:off x="6299200" y="430391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4</a:t>
            </a:r>
            <a:endParaRPr lang="en-US" sz="1600" dirty="0"/>
          </a:p>
        </p:txBody>
      </p:sp>
      <p:sp>
        <p:nvSpPr>
          <p:cNvPr id="18" name="Text 14"/>
          <p:cNvSpPr/>
          <p:nvPr/>
        </p:nvSpPr>
        <p:spPr>
          <a:xfrm>
            <a:off x="6858000" y="4369991"/>
            <a:ext cx="4638080" cy="29964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Vote</a:t>
            </a:r>
            <a:r>
              <a:rPr lang="en-US" sz="1600" dirty="0">
                <a:solidFill>
                  <a:srgbClr val="14182B"/>
                </a:solidFill>
                <a:latin typeface="DM Sans" pitchFamily="34" charset="0"/>
                <a:ea typeface="DM Sans" pitchFamily="34" charset="-122"/>
                <a:cs typeface="DM Sans" pitchFamily="34" charset="-120"/>
              </a:rPr>
              <a:t> for a class, or </a:t>
            </a:r>
            <a:r>
              <a:rPr lang="en-US" sz="1600" b="1" dirty="0">
                <a:solidFill>
                  <a:srgbClr val="14182B"/>
                </a:solidFill>
                <a:latin typeface="DM Sans" pitchFamily="34" charset="0"/>
                <a:ea typeface="DM Sans" pitchFamily="34" charset="-122"/>
                <a:cs typeface="DM Sans" pitchFamily="34" charset="-120"/>
              </a:rPr>
              <a:t>average</a:t>
            </a:r>
            <a:r>
              <a:rPr lang="en-US" sz="1600" dirty="0">
                <a:solidFill>
                  <a:srgbClr val="14182B"/>
                </a:solidFill>
                <a:latin typeface="DM Sans" pitchFamily="34" charset="0"/>
                <a:ea typeface="DM Sans" pitchFamily="34" charset="-122"/>
                <a:cs typeface="DM Sans" pitchFamily="34" charset="-120"/>
              </a:rPr>
              <a:t> for a number</a:t>
            </a:r>
            <a:endParaRPr lang="en-US" sz="1600" dirty="0"/>
          </a:p>
        </p:txBody>
      </p:sp>
      <p:sp>
        <p:nvSpPr>
          <p:cNvPr id="19"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“Training” is just storing the data; all the work happens at prediction time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Measuring closeness</a:t>
            </a:r>
            <a:endParaRPr lang="en-US" sz="3600" dirty="0"/>
          </a:p>
        </p:txBody>
      </p:sp>
      <p:sp>
        <p:nvSpPr>
          <p:cNvPr id="3" name="Shape 1"/>
          <p:cNvSpPr/>
          <p:nvPr/>
        </p:nvSpPr>
        <p:spPr>
          <a:xfrm>
            <a:off x="815975" y="1572816"/>
            <a:ext cx="5175250" cy="3709591"/>
          </a:xfrm>
          <a:prstGeom prst="roundRect">
            <a:avLst>
              <a:gd name="adj" fmla="val 4023"/>
            </a:avLst>
          </a:prstGeom>
          <a:solidFill>
            <a:srgbClr val="FFFDF8"/>
          </a:solidFill>
          <a:ln w="6350">
            <a:solidFill>
              <a:srgbClr val="D9D3C2"/>
            </a:solidFill>
            <a:prstDash val="solid"/>
          </a:ln>
        </p:spPr>
        <p:txBody>
          <a:bodyPr/>
          <a:lstStyle/>
          <a:p>
            <a:endParaRPr lang="en-US"/>
          </a:p>
        </p:txBody>
      </p:sp>
      <p:pic>
        <p:nvPicPr>
          <p:cNvPr id="4" name="Image 0" descr="Two points; an orange straight line joins them and a blue dashed path goes along the grid, right then up"/>
          <p:cNvPicPr>
            <a:picLocks noChangeAspect="1"/>
          </p:cNvPicPr>
          <p:nvPr/>
        </p:nvPicPr>
        <p:blipFill>
          <a:blip r:embed="rId3"/>
          <a:srcRect/>
          <a:stretch/>
        </p:blipFill>
        <p:spPr>
          <a:xfrm>
            <a:off x="1022350" y="1779191"/>
            <a:ext cx="4775200" cy="1905000"/>
          </a:xfrm>
          <a:prstGeom prst="rect">
            <a:avLst/>
          </a:prstGeom>
        </p:spPr>
      </p:pic>
      <p:sp>
        <p:nvSpPr>
          <p:cNvPr id="5" name="Shape 2"/>
          <p:cNvSpPr/>
          <p:nvPr/>
        </p:nvSpPr>
        <p:spPr>
          <a:xfrm>
            <a:off x="1022350" y="3902571"/>
            <a:ext cx="355600" cy="50800"/>
          </a:xfrm>
          <a:prstGeom prst="roundRect">
            <a:avLst>
              <a:gd name="adj" fmla="val 50000"/>
            </a:avLst>
          </a:prstGeom>
          <a:solidFill>
            <a:srgbClr val="C2410C"/>
          </a:solidFill>
          <a:ln/>
        </p:spPr>
        <p:txBody>
          <a:bodyPr/>
          <a:lstStyle/>
          <a:p>
            <a:endParaRPr lang="en-US"/>
          </a:p>
        </p:txBody>
      </p:sp>
      <p:sp>
        <p:nvSpPr>
          <p:cNvPr id="6" name="Text 3"/>
          <p:cNvSpPr/>
          <p:nvPr/>
        </p:nvSpPr>
        <p:spPr>
          <a:xfrm>
            <a:off x="1479550" y="3785791"/>
            <a:ext cx="3181707"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Euclidean: the straight line</a:t>
            </a:r>
            <a:endParaRPr lang="en-US" sz="1600" dirty="0"/>
          </a:p>
        </p:txBody>
      </p:sp>
      <p:sp>
        <p:nvSpPr>
          <p:cNvPr id="7" name="Text 4"/>
          <p:cNvSpPr/>
          <p:nvPr/>
        </p:nvSpPr>
        <p:spPr>
          <a:xfrm>
            <a:off x="1022350" y="4095651"/>
            <a:ext cx="490537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JetBrains Mono" pitchFamily="49" charset="0"/>
                <a:ea typeface="JetBrains Mono" pitchFamily="49" charset="-122"/>
                <a:cs typeface="JetBrains Mono" pitchFamily="49" charset="-120"/>
              </a:rPr>
              <a:t>d = √((a₁−b₁)² + (a₂−b₂)²)</a:t>
            </a:r>
            <a:endParaRPr lang="en-US" sz="1600" dirty="0"/>
          </a:p>
        </p:txBody>
      </p:sp>
      <p:sp>
        <p:nvSpPr>
          <p:cNvPr id="8" name="Shape 5"/>
          <p:cNvSpPr/>
          <p:nvPr/>
        </p:nvSpPr>
        <p:spPr>
          <a:xfrm>
            <a:off x="1022350" y="4623891"/>
            <a:ext cx="355600" cy="0"/>
          </a:xfrm>
          <a:prstGeom prst="line">
            <a:avLst/>
          </a:prstGeom>
          <a:noFill/>
          <a:ln w="38100">
            <a:solidFill>
              <a:srgbClr val="2F5BEA"/>
            </a:solidFill>
            <a:prstDash val="dash"/>
          </a:ln>
        </p:spPr>
        <p:txBody>
          <a:bodyPr/>
          <a:lstStyle/>
          <a:p>
            <a:endParaRPr lang="en-US"/>
          </a:p>
        </p:txBody>
      </p:sp>
      <p:sp>
        <p:nvSpPr>
          <p:cNvPr id="9" name="Text 6"/>
          <p:cNvSpPr/>
          <p:nvPr/>
        </p:nvSpPr>
        <p:spPr>
          <a:xfrm>
            <a:off x="1479550" y="4481711"/>
            <a:ext cx="306812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182B"/>
                </a:solidFill>
                <a:latin typeface="DM Sans" pitchFamily="34" charset="0"/>
                <a:ea typeface="DM Sans" pitchFamily="34" charset="-122"/>
                <a:cs typeface="DM Sans" pitchFamily="34" charset="-120"/>
              </a:rPr>
              <a:t>Manhattan: along the grid</a:t>
            </a:r>
            <a:endParaRPr lang="en-US" sz="1600" dirty="0"/>
          </a:p>
        </p:txBody>
      </p:sp>
      <p:sp>
        <p:nvSpPr>
          <p:cNvPr id="10" name="Text 7"/>
          <p:cNvSpPr/>
          <p:nvPr/>
        </p:nvSpPr>
        <p:spPr>
          <a:xfrm>
            <a:off x="1022350" y="4791571"/>
            <a:ext cx="490537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JetBrains Mono" pitchFamily="49" charset="0"/>
                <a:ea typeface="JetBrains Mono" pitchFamily="49" charset="-122"/>
                <a:cs typeface="JetBrains Mono" pitchFamily="49" charset="-120"/>
              </a:rPr>
              <a:t>d = |a₁−b₁| + |a₂−b₂|</a:t>
            </a:r>
            <a:endParaRPr lang="en-US" sz="1600" dirty="0"/>
          </a:p>
        </p:txBody>
      </p:sp>
      <p:sp>
        <p:nvSpPr>
          <p:cNvPr id="11" name="Shape 8"/>
          <p:cNvSpPr/>
          <p:nvPr/>
        </p:nvSpPr>
        <p:spPr>
          <a:xfrm>
            <a:off x="6200775" y="1572816"/>
            <a:ext cx="5175250" cy="3709591"/>
          </a:xfrm>
          <a:prstGeom prst="roundRect">
            <a:avLst>
              <a:gd name="adj" fmla="val 4023"/>
            </a:avLst>
          </a:prstGeom>
          <a:solidFill>
            <a:srgbClr val="FFFDF8"/>
          </a:solidFill>
          <a:ln w="6350">
            <a:solidFill>
              <a:srgbClr val="D9D3C2"/>
            </a:solidFill>
            <a:prstDash val="solid"/>
          </a:ln>
        </p:spPr>
        <p:txBody>
          <a:bodyPr/>
          <a:lstStyle/>
          <a:p>
            <a:endParaRPr lang="en-US"/>
          </a:p>
        </p:txBody>
      </p:sp>
      <p:sp>
        <p:nvSpPr>
          <p:cNvPr id="12" name="Text 9"/>
          <p:cNvSpPr/>
          <p:nvPr/>
        </p:nvSpPr>
        <p:spPr>
          <a:xfrm>
            <a:off x="6407150" y="1779191"/>
            <a:ext cx="49053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F6478"/>
                </a:solidFill>
                <a:latin typeface="DM Sans" pitchFamily="34" charset="0"/>
                <a:ea typeface="DM Sans" pitchFamily="34" charset="-122"/>
                <a:cs typeface="DM Sans" pitchFamily="34" charset="-120"/>
              </a:rPr>
              <a:t>EXAMPLE: TWO PEOPLE</a:t>
            </a:r>
            <a:endParaRPr lang="en-US" sz="1200" dirty="0"/>
          </a:p>
        </p:txBody>
      </p:sp>
      <p:sp>
        <p:nvSpPr>
          <p:cNvPr id="13" name="Text 10"/>
          <p:cNvSpPr/>
          <p:nvPr/>
        </p:nvSpPr>
        <p:spPr>
          <a:xfrm>
            <a:off x="6407150" y="2119511"/>
            <a:ext cx="4905375" cy="69592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182B"/>
                </a:solidFill>
                <a:latin typeface="DM Sans" pitchFamily="34" charset="0"/>
                <a:ea typeface="DM Sans" pitchFamily="34" charset="-122"/>
                <a:cs typeface="DM Sans" pitchFamily="34" charset="-120"/>
              </a:rPr>
              <a:t>A: 170 cm, 65 kg</a:t>
            </a:r>
            <a:endParaRPr lang="en-US" sz="2200" dirty="0"/>
          </a:p>
          <a:p>
            <a:pPr marL="0" indent="0" algn="l">
              <a:lnSpc>
                <a:spcPts val="2640"/>
              </a:lnSpc>
              <a:buNone/>
            </a:pPr>
            <a:r>
              <a:rPr lang="en-US" sz="2200" b="1" dirty="0">
                <a:solidFill>
                  <a:srgbClr val="14182B"/>
                </a:solidFill>
                <a:latin typeface="DM Sans" pitchFamily="34" charset="0"/>
                <a:ea typeface="DM Sans" pitchFamily="34" charset="-122"/>
                <a:cs typeface="DM Sans" pitchFamily="34" charset="-120"/>
              </a:rPr>
              <a:t>B: 175 cm, 68 kg</a:t>
            </a:r>
            <a:endParaRPr lang="en-US" sz="2200" dirty="0"/>
          </a:p>
        </p:txBody>
      </p:sp>
      <p:sp>
        <p:nvSpPr>
          <p:cNvPr id="14" name="Text 11"/>
          <p:cNvSpPr/>
          <p:nvPr/>
        </p:nvSpPr>
        <p:spPr>
          <a:xfrm>
            <a:off x="6407150" y="2917031"/>
            <a:ext cx="4762500" cy="538460"/>
          </a:xfrm>
          <a:prstGeom prst="roundRect">
            <a:avLst>
              <a:gd name="adj" fmla="val 18869"/>
            </a:avLst>
          </a:prstGeom>
          <a:solidFill>
            <a:srgbClr val="F5F2EA"/>
          </a:solidFill>
          <a:ln/>
        </p:spPr>
        <p:txBody>
          <a:bodyPr wrap="square" lIns="122642" tIns="97242" rIns="0" bIns="71842" rtlCol="0" anchor="t">
            <a:normAutofit/>
          </a:bodyPr>
          <a:lstStyle/>
          <a:p>
            <a:pPr marL="0" indent="0" algn="l">
              <a:lnSpc>
                <a:spcPts val="2240"/>
              </a:lnSpc>
              <a:buNone/>
            </a:pPr>
            <a:r>
              <a:rPr lang="en-US" sz="1600" b="1" dirty="0">
                <a:solidFill>
                  <a:srgbClr val="14182B"/>
                </a:solidFill>
                <a:latin typeface="JetBrains Mono" pitchFamily="49" charset="0"/>
                <a:ea typeface="JetBrains Mono" pitchFamily="49" charset="-122"/>
                <a:cs typeface="JetBrains Mono" pitchFamily="49" charset="-120"/>
              </a:rPr>
              <a:t>Euclidean = √(5² + 3²) ≈ 5.8</a:t>
            </a:r>
            <a:endParaRPr lang="en-US" sz="1600" dirty="0"/>
          </a:p>
        </p:txBody>
      </p:sp>
      <p:sp>
        <p:nvSpPr>
          <p:cNvPr id="15" name="Text 12"/>
          <p:cNvSpPr/>
          <p:nvPr/>
        </p:nvSpPr>
        <p:spPr>
          <a:xfrm>
            <a:off x="6407150" y="3582491"/>
            <a:ext cx="4762500" cy="538460"/>
          </a:xfrm>
          <a:prstGeom prst="roundRect">
            <a:avLst>
              <a:gd name="adj" fmla="val 18869"/>
            </a:avLst>
          </a:prstGeom>
          <a:solidFill>
            <a:srgbClr val="F5F2EA"/>
          </a:solidFill>
          <a:ln/>
        </p:spPr>
        <p:txBody>
          <a:bodyPr wrap="square" lIns="122642" tIns="97242" rIns="0" bIns="71842" rtlCol="0" anchor="t">
            <a:normAutofit/>
          </a:bodyPr>
          <a:lstStyle/>
          <a:p>
            <a:pPr marL="0" indent="0" algn="l">
              <a:lnSpc>
                <a:spcPts val="2240"/>
              </a:lnSpc>
              <a:buNone/>
            </a:pPr>
            <a:r>
              <a:rPr lang="en-US" sz="1600" b="1" dirty="0">
                <a:solidFill>
                  <a:srgbClr val="14182B"/>
                </a:solidFill>
                <a:latin typeface="JetBrains Mono" pitchFamily="49" charset="0"/>
                <a:ea typeface="JetBrains Mono" pitchFamily="49" charset="-122"/>
                <a:cs typeface="JetBrains Mono" pitchFamily="49" charset="-120"/>
              </a:rPr>
              <a:t>Manhattan = 5 + 3 = 8</a:t>
            </a:r>
            <a:endParaRPr lang="en-US" sz="1600" dirty="0"/>
          </a:p>
        </p:txBody>
      </p:sp>
      <p:sp>
        <p:nvSpPr>
          <p:cNvPr id="16" name="Text 13"/>
          <p:cNvSpPr/>
          <p:nvPr/>
        </p:nvSpPr>
        <p:spPr>
          <a:xfrm>
            <a:off x="6407150" y="4247952"/>
            <a:ext cx="490537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Smaller distance = more similar</a:t>
            </a:r>
            <a:endParaRPr lang="en-US" sz="16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Other distances exist: Hamming for categories, edit distance for text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ECE6D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kNN: choices and caveats</a:t>
            </a:r>
            <a:endParaRPr lang="en-US" sz="3600" dirty="0"/>
          </a:p>
        </p:txBody>
      </p:sp>
      <p:sp>
        <p:nvSpPr>
          <p:cNvPr id="3" name="Shape 1"/>
          <p:cNvSpPr/>
          <p:nvPr/>
        </p:nvSpPr>
        <p:spPr>
          <a:xfrm>
            <a:off x="815975" y="1572816"/>
            <a:ext cx="3384550" cy="1694061"/>
          </a:xfrm>
          <a:prstGeom prst="roundRect">
            <a:avLst>
              <a:gd name="adj" fmla="val 8809"/>
            </a:avLst>
          </a:prstGeom>
          <a:solidFill>
            <a:srgbClr val="FFFDF8"/>
          </a:solidFill>
          <a:ln w="6350">
            <a:solidFill>
              <a:srgbClr val="D9D3C2"/>
            </a:solidFill>
            <a:prstDash val="solid"/>
          </a:ln>
        </p:spPr>
        <p:txBody>
          <a:bodyPr/>
          <a:lstStyle/>
          <a:p>
            <a:endParaRPr lang="en-US"/>
          </a:p>
        </p:txBody>
      </p:sp>
      <p:sp>
        <p:nvSpPr>
          <p:cNvPr id="4" name="Text 2"/>
          <p:cNvSpPr/>
          <p:nvPr/>
        </p:nvSpPr>
        <p:spPr>
          <a:xfrm>
            <a:off x="1047750" y="1804591"/>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10C"/>
                </a:solidFill>
                <a:latin typeface="DM Sans" pitchFamily="34" charset="0"/>
                <a:ea typeface="DM Sans" pitchFamily="34" charset="-122"/>
                <a:cs typeface="DM Sans" pitchFamily="34" charset="-120"/>
              </a:rPr>
              <a:t>SMALL K</a:t>
            </a:r>
            <a:endParaRPr lang="en-US" sz="1200" dirty="0"/>
          </a:p>
        </p:txBody>
      </p:sp>
      <p:sp>
        <p:nvSpPr>
          <p:cNvPr id="5" name="Text 3"/>
          <p:cNvSpPr/>
          <p:nvPr/>
        </p:nvSpPr>
        <p:spPr>
          <a:xfrm>
            <a:off x="1047750" y="2081411"/>
            <a:ext cx="300863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Flexible, noisy</a:t>
            </a:r>
            <a:endParaRPr lang="en-US" sz="2200" dirty="0"/>
          </a:p>
        </p:txBody>
      </p:sp>
      <p:sp>
        <p:nvSpPr>
          <p:cNvPr id="6" name="Text 4"/>
          <p:cNvSpPr/>
          <p:nvPr/>
        </p:nvSpPr>
        <p:spPr>
          <a:xfrm>
            <a:off x="1047750" y="2466181"/>
            <a:ext cx="300863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k = 1 copies its closest neighbor. Risk: overfitting.</a:t>
            </a:r>
            <a:endParaRPr lang="en-US" sz="1600" dirty="0"/>
          </a:p>
        </p:txBody>
      </p:sp>
      <p:sp>
        <p:nvSpPr>
          <p:cNvPr id="7" name="Shape 5"/>
          <p:cNvSpPr/>
          <p:nvPr/>
        </p:nvSpPr>
        <p:spPr>
          <a:xfrm>
            <a:off x="4410075" y="1572816"/>
            <a:ext cx="3384550" cy="1694061"/>
          </a:xfrm>
          <a:prstGeom prst="roundRect">
            <a:avLst>
              <a:gd name="adj" fmla="val 8809"/>
            </a:avLst>
          </a:prstGeom>
          <a:solidFill>
            <a:srgbClr val="FFFDF8"/>
          </a:solidFill>
          <a:ln w="6350">
            <a:solidFill>
              <a:srgbClr val="D9D3C2"/>
            </a:solidFill>
            <a:prstDash val="solid"/>
          </a:ln>
        </p:spPr>
        <p:txBody>
          <a:bodyPr/>
          <a:lstStyle/>
          <a:p>
            <a:endParaRPr lang="en-US"/>
          </a:p>
        </p:txBody>
      </p:sp>
      <p:sp>
        <p:nvSpPr>
          <p:cNvPr id="8" name="Text 6"/>
          <p:cNvSpPr/>
          <p:nvPr/>
        </p:nvSpPr>
        <p:spPr>
          <a:xfrm>
            <a:off x="4641850" y="1804591"/>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5BEA"/>
                </a:solidFill>
                <a:latin typeface="DM Sans" pitchFamily="34" charset="0"/>
                <a:ea typeface="DM Sans" pitchFamily="34" charset="-122"/>
                <a:cs typeface="DM Sans" pitchFamily="34" charset="-120"/>
              </a:rPr>
              <a:t>LARGE K</a:t>
            </a:r>
            <a:endParaRPr lang="en-US" sz="1200" dirty="0"/>
          </a:p>
        </p:txBody>
      </p:sp>
      <p:sp>
        <p:nvSpPr>
          <p:cNvPr id="9" name="Text 7"/>
          <p:cNvSpPr/>
          <p:nvPr/>
        </p:nvSpPr>
        <p:spPr>
          <a:xfrm>
            <a:off x="4641850" y="2081411"/>
            <a:ext cx="300863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Smooth, blurry</a:t>
            </a:r>
            <a:endParaRPr lang="en-US" sz="2200" dirty="0"/>
          </a:p>
        </p:txBody>
      </p:sp>
      <p:sp>
        <p:nvSpPr>
          <p:cNvPr id="10" name="Text 8"/>
          <p:cNvSpPr/>
          <p:nvPr/>
        </p:nvSpPr>
        <p:spPr>
          <a:xfrm>
            <a:off x="4641850" y="2466181"/>
            <a:ext cx="300863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F63"/>
                </a:solidFill>
                <a:latin typeface="DM Sans" pitchFamily="34" charset="0"/>
                <a:ea typeface="DM Sans" pitchFamily="34" charset="-122"/>
                <a:cs typeface="DM Sans" pitchFamily="34" charset="-120"/>
              </a:rPr>
              <a:t>k = all always votes for the majority. Risk: underfitting.</a:t>
            </a:r>
            <a:endParaRPr lang="en-US" sz="1600" dirty="0"/>
          </a:p>
        </p:txBody>
      </p:sp>
      <p:sp>
        <p:nvSpPr>
          <p:cNvPr id="11" name="Shape 9"/>
          <p:cNvSpPr/>
          <p:nvPr/>
        </p:nvSpPr>
        <p:spPr>
          <a:xfrm>
            <a:off x="8001000" y="1569641"/>
            <a:ext cx="3378200" cy="1700411"/>
          </a:xfrm>
          <a:prstGeom prst="roundRect">
            <a:avLst>
              <a:gd name="adj" fmla="val 8963"/>
            </a:avLst>
          </a:prstGeom>
          <a:solidFill>
            <a:srgbClr val="14182B"/>
          </a:solidFill>
          <a:ln/>
        </p:spPr>
        <p:txBody>
          <a:bodyPr/>
          <a:lstStyle/>
          <a:p>
            <a:endParaRPr lang="en-US"/>
          </a:p>
        </p:txBody>
      </p:sp>
      <p:sp>
        <p:nvSpPr>
          <p:cNvPr id="12" name="Text 10"/>
          <p:cNvSpPr/>
          <p:nvPr/>
        </p:nvSpPr>
        <p:spPr>
          <a:xfrm>
            <a:off x="8229600" y="1798241"/>
            <a:ext cx="300863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9A5C"/>
                </a:solidFill>
                <a:latin typeface="DM Sans" pitchFamily="34" charset="0"/>
                <a:ea typeface="DM Sans" pitchFamily="34" charset="-122"/>
                <a:cs typeface="DM Sans" pitchFamily="34" charset="-120"/>
              </a:rPr>
              <a:t>JUST RIGHT</a:t>
            </a:r>
            <a:endParaRPr lang="en-US" sz="1200" dirty="0"/>
          </a:p>
        </p:txBody>
      </p:sp>
      <p:sp>
        <p:nvSpPr>
          <p:cNvPr id="13" name="Text 11"/>
          <p:cNvSpPr/>
          <p:nvPr/>
        </p:nvSpPr>
        <p:spPr>
          <a:xfrm>
            <a:off x="8229600" y="2075061"/>
            <a:ext cx="300863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5F2EA"/>
                </a:solidFill>
                <a:latin typeface="DM Sans" pitchFamily="34" charset="0"/>
                <a:ea typeface="DM Sans" pitchFamily="34" charset="-122"/>
                <a:cs typeface="DM Sans" pitchFamily="34" charset="-120"/>
              </a:rPr>
              <a:t>Tune k</a:t>
            </a:r>
            <a:endParaRPr lang="en-US" sz="2200" dirty="0"/>
          </a:p>
        </p:txBody>
      </p:sp>
      <p:sp>
        <p:nvSpPr>
          <p:cNvPr id="14" name="Text 12"/>
          <p:cNvSpPr/>
          <p:nvPr/>
        </p:nvSpPr>
        <p:spPr>
          <a:xfrm>
            <a:off x="8229600" y="2459831"/>
            <a:ext cx="300863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EE0"/>
                </a:solidFill>
                <a:latin typeface="DM Sans" pitchFamily="34" charset="0"/>
                <a:ea typeface="DM Sans" pitchFamily="34" charset="-122"/>
                <a:cs typeface="DM Sans" pitchFamily="34" charset="-120"/>
              </a:rPr>
              <a:t>Try 1, 3, 5, 7… and compare on the validation set.</a:t>
            </a:r>
            <a:endParaRPr lang="en-US" sz="1600" dirty="0"/>
          </a:p>
        </p:txBody>
      </p:sp>
      <p:sp>
        <p:nvSpPr>
          <p:cNvPr id="15" name="Shape 13"/>
          <p:cNvSpPr/>
          <p:nvPr/>
        </p:nvSpPr>
        <p:spPr>
          <a:xfrm>
            <a:off x="815975" y="3527227"/>
            <a:ext cx="5175250" cy="1775420"/>
          </a:xfrm>
          <a:prstGeom prst="roundRect">
            <a:avLst>
              <a:gd name="adj" fmla="val 8405"/>
            </a:avLst>
          </a:prstGeom>
          <a:solidFill>
            <a:srgbClr val="FFFDF8"/>
          </a:solidFill>
          <a:ln w="6350">
            <a:solidFill>
              <a:srgbClr val="D9D3C2"/>
            </a:solidFill>
            <a:prstDash val="solid"/>
          </a:ln>
        </p:spPr>
        <p:txBody>
          <a:bodyPr/>
          <a:lstStyle/>
          <a:p>
            <a:endParaRPr lang="en-US"/>
          </a:p>
        </p:txBody>
      </p:sp>
      <p:sp>
        <p:nvSpPr>
          <p:cNvPr id="16" name="Text 14"/>
          <p:cNvSpPr/>
          <p:nvPr/>
        </p:nvSpPr>
        <p:spPr>
          <a:xfrm>
            <a:off x="1047750" y="3759002"/>
            <a:ext cx="4853051"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Watch out for</a:t>
            </a:r>
            <a:endParaRPr lang="en-US" sz="2200" dirty="0"/>
          </a:p>
        </p:txBody>
      </p:sp>
      <p:sp>
        <p:nvSpPr>
          <p:cNvPr id="17" name="Text 15"/>
          <p:cNvSpPr/>
          <p:nvPr/>
        </p:nvSpPr>
        <p:spPr>
          <a:xfrm>
            <a:off x="1111758" y="4156472"/>
            <a:ext cx="4781423" cy="939800"/>
          </a:xfrm>
          <a:prstGeom prst="rect">
            <a:avLst/>
          </a:prstGeom>
          <a:noFill/>
          <a:ln/>
        </p:spPr>
        <p:txBody>
          <a:bodyPr wrap="square" lIns="0" tIns="0" rIns="0" bIns="0" rtlCol="0" anchor="t">
            <a:normAutofit/>
          </a:bodyPr>
          <a:lstStyle/>
          <a:p>
            <a:pPr marL="189992" indent="-189992" algn="l">
              <a:lnSpc>
                <a:spcPts val="2400"/>
              </a:lnSpc>
              <a:buSzPct val="100000"/>
              <a:buChar char="•"/>
            </a:pPr>
            <a:r>
              <a:rPr lang="en-US" sz="1600" dirty="0">
                <a:solidFill>
                  <a:srgbClr val="4A4F63"/>
                </a:solidFill>
                <a:latin typeface="DM Sans" pitchFamily="34" charset="0"/>
                <a:ea typeface="DM Sans" pitchFamily="34" charset="-122"/>
                <a:cs typeface="DM Sans" pitchFamily="34" charset="-120"/>
              </a:rPr>
              <a:t>Feature scales</a:t>
            </a:r>
            <a:endParaRPr lang="en-US" sz="1600" dirty="0"/>
          </a:p>
          <a:p>
            <a:pPr marL="189992" indent="-189992" algn="l">
              <a:lnSpc>
                <a:spcPts val="2400"/>
              </a:lnSpc>
              <a:buSzPct val="100000"/>
              <a:buChar char="•"/>
            </a:pPr>
            <a:r>
              <a:rPr lang="en-US" sz="1600" dirty="0">
                <a:solidFill>
                  <a:srgbClr val="4A4F63"/>
                </a:solidFill>
                <a:latin typeface="DM Sans" pitchFamily="34" charset="0"/>
                <a:ea typeface="DM Sans" pitchFamily="34" charset="-122"/>
                <a:cs typeface="DM Sans" pitchFamily="34" charset="-120"/>
              </a:rPr>
              <a:t>Slow predictions on big data</a:t>
            </a:r>
            <a:endParaRPr lang="en-US" sz="1600" dirty="0"/>
          </a:p>
          <a:p>
            <a:pPr marL="189992" indent="-189992" algn="l">
              <a:lnSpc>
                <a:spcPts val="2400"/>
              </a:lnSpc>
              <a:buSzPct val="100000"/>
              <a:buChar char="•"/>
            </a:pPr>
            <a:r>
              <a:rPr lang="en-US" sz="1600" dirty="0">
                <a:solidFill>
                  <a:srgbClr val="4A4F63"/>
                </a:solidFill>
                <a:latin typeface="DM Sans" pitchFamily="34" charset="0"/>
                <a:ea typeface="DM Sans" pitchFamily="34" charset="-122"/>
                <a:cs typeface="DM Sans" pitchFamily="34" charset="-120"/>
              </a:rPr>
              <a:t>Noisy or many features</a:t>
            </a:r>
            <a:endParaRPr lang="en-US" sz="1600" dirty="0"/>
          </a:p>
        </p:txBody>
      </p:sp>
      <p:sp>
        <p:nvSpPr>
          <p:cNvPr id="18" name="Shape 16"/>
          <p:cNvSpPr/>
          <p:nvPr/>
        </p:nvSpPr>
        <p:spPr>
          <a:xfrm>
            <a:off x="6200775" y="3527227"/>
            <a:ext cx="5175250" cy="1775420"/>
          </a:xfrm>
          <a:prstGeom prst="roundRect">
            <a:avLst>
              <a:gd name="adj" fmla="val 8405"/>
            </a:avLst>
          </a:prstGeom>
          <a:solidFill>
            <a:srgbClr val="FFFDF8"/>
          </a:solidFill>
          <a:ln w="6350">
            <a:solidFill>
              <a:srgbClr val="D9D3C2"/>
            </a:solidFill>
            <a:prstDash val="solid"/>
          </a:ln>
        </p:spPr>
        <p:txBody>
          <a:bodyPr/>
          <a:lstStyle/>
          <a:p>
            <a:endParaRPr lang="en-US"/>
          </a:p>
        </p:txBody>
      </p:sp>
      <p:sp>
        <p:nvSpPr>
          <p:cNvPr id="19" name="Text 17"/>
          <p:cNvSpPr/>
          <p:nvPr/>
        </p:nvSpPr>
        <p:spPr>
          <a:xfrm>
            <a:off x="6432550" y="3759002"/>
            <a:ext cx="4853051"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4182B"/>
                </a:solidFill>
                <a:latin typeface="DM Sans" pitchFamily="34" charset="0"/>
                <a:ea typeface="DM Sans" pitchFamily="34" charset="-122"/>
                <a:cs typeface="DM Sans" pitchFamily="34" charset="-120"/>
              </a:rPr>
              <a:t>Good to know</a:t>
            </a:r>
            <a:endParaRPr lang="en-US" sz="2200" dirty="0"/>
          </a:p>
        </p:txBody>
      </p:sp>
      <p:sp>
        <p:nvSpPr>
          <p:cNvPr id="20" name="Text 18"/>
          <p:cNvSpPr/>
          <p:nvPr/>
        </p:nvSpPr>
        <p:spPr>
          <a:xfrm>
            <a:off x="6496558" y="4156472"/>
            <a:ext cx="4781423" cy="939800"/>
          </a:xfrm>
          <a:prstGeom prst="rect">
            <a:avLst/>
          </a:prstGeom>
          <a:noFill/>
          <a:ln/>
        </p:spPr>
        <p:txBody>
          <a:bodyPr wrap="square" lIns="0" tIns="0" rIns="0" bIns="0" rtlCol="0" anchor="t">
            <a:normAutofit/>
          </a:bodyPr>
          <a:lstStyle/>
          <a:p>
            <a:pPr marL="189992" indent="-189992" algn="l">
              <a:lnSpc>
                <a:spcPts val="2400"/>
              </a:lnSpc>
              <a:buSzPct val="100000"/>
              <a:buChar char="•"/>
            </a:pPr>
            <a:r>
              <a:rPr lang="en-US" sz="1600" dirty="0">
                <a:solidFill>
                  <a:srgbClr val="4A4F63"/>
                </a:solidFill>
                <a:latin typeface="DM Sans" pitchFamily="34" charset="0"/>
                <a:ea typeface="DM Sans" pitchFamily="34" charset="-122"/>
                <a:cs typeface="DM Sans" pitchFamily="34" charset="-120"/>
              </a:rPr>
              <a:t>Regression: average the k labels</a:t>
            </a:r>
            <a:endParaRPr lang="en-US" sz="1600" dirty="0"/>
          </a:p>
          <a:p>
            <a:pPr marL="189992" indent="-189992" algn="l">
              <a:lnSpc>
                <a:spcPts val="2400"/>
              </a:lnSpc>
              <a:buSzPct val="100000"/>
              <a:buChar char="•"/>
            </a:pPr>
            <a:r>
              <a:rPr lang="en-US" sz="1600" dirty="0">
                <a:solidFill>
                  <a:srgbClr val="4A4F63"/>
                </a:solidFill>
                <a:latin typeface="DM Sans" pitchFamily="34" charset="0"/>
                <a:ea typeface="DM Sans" pitchFamily="34" charset="-122"/>
                <a:cs typeface="DM Sans" pitchFamily="34" charset="-120"/>
              </a:rPr>
              <a:t>Closer neighbors can vote louder</a:t>
            </a:r>
            <a:endParaRPr lang="en-US" sz="1600" dirty="0"/>
          </a:p>
          <a:p>
            <a:pPr marL="189992" indent="-189992" algn="l">
              <a:lnSpc>
                <a:spcPts val="2400"/>
              </a:lnSpc>
              <a:buSzPct val="100000"/>
              <a:buChar char="•"/>
            </a:pPr>
            <a:r>
              <a:rPr lang="en-US" sz="1600" dirty="0">
                <a:solidFill>
                  <a:srgbClr val="4A4F63"/>
                </a:solidFill>
                <a:latin typeface="DM Sans" pitchFamily="34" charset="0"/>
                <a:ea typeface="DM Sans" pitchFamily="34" charset="-122"/>
                <a:cs typeface="DM Sans" pitchFamily="34" charset="-120"/>
              </a:rPr>
              <a:t>Odd k avoids tied votes</a:t>
            </a:r>
            <a:endParaRPr lang="en-US" sz="16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k is a hyperparameter: we choose it, the algorithm doesn’t learn it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14182B"/>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2800" y="2594074"/>
            <a:ext cx="10883392" cy="793452"/>
          </a:xfrm>
          <a:prstGeom prst="rect">
            <a:avLst/>
          </a:prstGeom>
          <a:noFill/>
          <a:ln/>
        </p:spPr>
        <p:txBody>
          <a:bodyPr wrap="square" lIns="0" tIns="0" rIns="0" bIns="0" rtlCol="0" anchor="t">
            <a:normAutofit/>
          </a:bodyPr>
          <a:lstStyle/>
          <a:p>
            <a:pPr>
              <a:lnSpc>
                <a:spcPts val="6048"/>
              </a:lnSpc>
            </a:pPr>
            <a:r>
              <a:rPr lang="en-US" sz="6000" b="1" kern="0" spc="-50" dirty="0">
                <a:solidFill>
                  <a:schemeClr val="bg1"/>
                </a:solidFill>
              </a:rPr>
              <a:t>k-NN </a:t>
            </a:r>
            <a:r>
              <a:rPr lang="en-US" sz="5600" b="1" i="0" kern="0" spc="-100" dirty="0">
                <a:solidFill>
                  <a:srgbClr val="F5F2EA"/>
                </a:solidFill>
                <a:latin typeface="DM Sans" pitchFamily="34" charset="0"/>
                <a:ea typeface="DM Sans" pitchFamily="34" charset="-122"/>
                <a:cs typeface="DM Sans" pitchFamily="34" charset="-120"/>
              </a:rPr>
              <a:t>Coding</a:t>
            </a:r>
            <a:endParaRPr lang="en-US" sz="5600" dirty="0"/>
          </a:p>
        </p:txBody>
      </p:sp>
      <p:sp>
        <p:nvSpPr>
          <p:cNvPr id="4" name="Text 2"/>
          <p:cNvSpPr/>
          <p:nvPr/>
        </p:nvSpPr>
        <p:spPr>
          <a:xfrm>
            <a:off x="815975" y="3720902"/>
            <a:ext cx="1880295"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1 · Load the data</a:t>
            </a:r>
            <a:endParaRPr lang="en-US" sz="1600" dirty="0"/>
          </a:p>
        </p:txBody>
      </p:sp>
      <p:sp>
        <p:nvSpPr>
          <p:cNvPr id="5" name="Text 3"/>
          <p:cNvSpPr/>
          <p:nvPr/>
        </p:nvSpPr>
        <p:spPr>
          <a:xfrm>
            <a:off x="2829620" y="3720902"/>
            <a:ext cx="1228626"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2 · Split it</a:t>
            </a:r>
            <a:endParaRPr lang="en-US" sz="1600" dirty="0"/>
          </a:p>
        </p:txBody>
      </p:sp>
      <p:sp>
        <p:nvSpPr>
          <p:cNvPr id="6" name="Text 4"/>
          <p:cNvSpPr/>
          <p:nvPr/>
        </p:nvSpPr>
        <p:spPr>
          <a:xfrm>
            <a:off x="4191595" y="3720902"/>
            <a:ext cx="1521222"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3 · Train kNN</a:t>
            </a:r>
            <a:endParaRPr lang="en-US" sz="1600" dirty="0"/>
          </a:p>
        </p:txBody>
      </p:sp>
      <p:sp>
        <p:nvSpPr>
          <p:cNvPr id="7" name="Text 5"/>
          <p:cNvSpPr/>
          <p:nvPr/>
        </p:nvSpPr>
        <p:spPr>
          <a:xfrm>
            <a:off x="5846167" y="3720902"/>
            <a:ext cx="1947366"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4 · Measure error</a:t>
            </a:r>
            <a:endParaRPr lang="en-US" sz="1600" dirty="0"/>
          </a:p>
        </p:txBody>
      </p:sp>
      <p:sp>
        <p:nvSpPr>
          <p:cNvPr id="8" name="Text 6"/>
          <p:cNvSpPr/>
          <p:nvPr/>
        </p:nvSpPr>
        <p:spPr>
          <a:xfrm>
            <a:off x="7926884" y="3720902"/>
            <a:ext cx="1944092" cy="468610"/>
          </a:xfrm>
          <a:prstGeom prst="roundRect">
            <a:avLst>
              <a:gd name="adj" fmla="val 50000"/>
            </a:avLst>
          </a:prstGeom>
          <a:solidFill>
            <a:srgbClr val="262C47"/>
          </a:solidFill>
          <a:ln w="6350">
            <a:solidFill>
              <a:srgbClr val="3A4163"/>
            </a:solidFill>
            <a:prstDash val="solid"/>
          </a:ln>
        </p:spPr>
        <p:txBody>
          <a:bodyPr wrap="none" lIns="0" tIns="0" rIns="0" bIns="0" rtlCol="0" anchor="ctr">
            <a:normAutofit/>
          </a:bodyPr>
          <a:lstStyle/>
          <a:p>
            <a:pPr marL="0" indent="0" algn="ctr">
              <a:lnSpc>
                <a:spcPts val="2240"/>
              </a:lnSpc>
              <a:buNone/>
            </a:pPr>
            <a:r>
              <a:rPr lang="en-US" sz="1600" dirty="0">
                <a:solidFill>
                  <a:srgbClr val="F5F2EA"/>
                </a:solidFill>
                <a:latin typeface="DM Sans" pitchFamily="34" charset="0"/>
                <a:ea typeface="DM Sans" pitchFamily="34" charset="-122"/>
                <a:cs typeface="DM Sans" pitchFamily="34" charset="-120"/>
              </a:rPr>
              <a:t>5 · Try different k</a:t>
            </a:r>
            <a:endParaRPr lang="en-US" sz="1600" dirty="0"/>
          </a:p>
        </p:txBody>
      </p:sp>
      <p:sp>
        <p:nvSpPr>
          <p:cNvPr id="9" name="Text 7"/>
          <p:cNvSpPr/>
          <p:nvPr/>
        </p:nvSpPr>
        <p:spPr>
          <a:xfrm>
            <a:off x="812800" y="4548287"/>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EE0"/>
                </a:solidFill>
                <a:latin typeface="JetBrains Mono" pitchFamily="49" charset="0"/>
                <a:ea typeface="JetBrains Mono" pitchFamily="49" charset="-122"/>
                <a:cs typeface="JetBrains Mono" pitchFamily="49" charset="-120"/>
              </a:rPr>
              <a:t>Python · scikit-learn · matplotlib</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5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14182B"/>
                </a:solidFill>
                <a:latin typeface="DM Sans" pitchFamily="34" charset="0"/>
                <a:ea typeface="DM Sans" pitchFamily="34" charset="-122"/>
                <a:cs typeface="DM Sans" pitchFamily="34" charset="-120"/>
              </a:rPr>
              <a:t>Takeaways</a:t>
            </a:r>
            <a:endParaRPr lang="en-US" sz="3600" dirty="0"/>
          </a:p>
        </p:txBody>
      </p:sp>
      <p:sp>
        <p:nvSpPr>
          <p:cNvPr id="3" name="Shape 1"/>
          <p:cNvSpPr/>
          <p:nvPr/>
        </p:nvSpPr>
        <p:spPr>
          <a:xfrm>
            <a:off x="815975" y="1572816"/>
            <a:ext cx="5200650" cy="768350"/>
          </a:xfrm>
          <a:prstGeom prst="roundRect">
            <a:avLst>
              <a:gd name="adj" fmla="val 19421"/>
            </a:avLst>
          </a:prstGeom>
          <a:solidFill>
            <a:srgbClr val="FFFDF8"/>
          </a:solidFill>
          <a:ln w="6350">
            <a:solidFill>
              <a:srgbClr val="D9D3C2"/>
            </a:solidFill>
            <a:prstDash val="solid"/>
          </a:ln>
        </p:spPr>
        <p:txBody>
          <a:bodyPr/>
          <a:lstStyle/>
          <a:p>
            <a:endParaRPr lang="en-US"/>
          </a:p>
        </p:txBody>
      </p:sp>
      <p:sp>
        <p:nvSpPr>
          <p:cNvPr id="4" name="Text 2"/>
          <p:cNvSpPr/>
          <p:nvPr/>
        </p:nvSpPr>
        <p:spPr>
          <a:xfrm>
            <a:off x="1022350" y="175379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1</a:t>
            </a:r>
            <a:endParaRPr lang="en-US" sz="1600" dirty="0"/>
          </a:p>
        </p:txBody>
      </p:sp>
      <p:sp>
        <p:nvSpPr>
          <p:cNvPr id="5" name="Text 3"/>
          <p:cNvSpPr/>
          <p:nvPr/>
        </p:nvSpPr>
        <p:spPr>
          <a:xfrm>
            <a:off x="1581150" y="1819870"/>
            <a:ext cx="3024545" cy="29964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ML learns rules from data</a:t>
            </a:r>
            <a:endParaRPr lang="en-US" sz="1600" dirty="0"/>
          </a:p>
        </p:txBody>
      </p:sp>
      <p:sp>
        <p:nvSpPr>
          <p:cNvPr id="6" name="Shape 4"/>
          <p:cNvSpPr/>
          <p:nvPr/>
        </p:nvSpPr>
        <p:spPr>
          <a:xfrm>
            <a:off x="6175375" y="1572816"/>
            <a:ext cx="5200650" cy="768350"/>
          </a:xfrm>
          <a:prstGeom prst="roundRect">
            <a:avLst>
              <a:gd name="adj" fmla="val 19421"/>
            </a:avLst>
          </a:prstGeom>
          <a:solidFill>
            <a:srgbClr val="FFFDF8"/>
          </a:solidFill>
          <a:ln w="6350">
            <a:solidFill>
              <a:srgbClr val="D9D3C2"/>
            </a:solidFill>
            <a:prstDash val="solid"/>
          </a:ln>
        </p:spPr>
        <p:txBody>
          <a:bodyPr/>
          <a:lstStyle/>
          <a:p>
            <a:endParaRPr lang="en-US"/>
          </a:p>
        </p:txBody>
      </p:sp>
      <p:sp>
        <p:nvSpPr>
          <p:cNvPr id="7" name="Text 5"/>
          <p:cNvSpPr/>
          <p:nvPr/>
        </p:nvSpPr>
        <p:spPr>
          <a:xfrm>
            <a:off x="6381750" y="175379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2</a:t>
            </a:r>
            <a:endParaRPr lang="en-US" sz="1600" dirty="0"/>
          </a:p>
        </p:txBody>
      </p:sp>
      <p:sp>
        <p:nvSpPr>
          <p:cNvPr id="8" name="Text 6"/>
          <p:cNvSpPr/>
          <p:nvPr/>
        </p:nvSpPr>
        <p:spPr>
          <a:xfrm>
            <a:off x="6940550" y="1819870"/>
            <a:ext cx="2481143" cy="29964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Features in, label out</a:t>
            </a:r>
            <a:endParaRPr lang="en-US" sz="1600" dirty="0"/>
          </a:p>
        </p:txBody>
      </p:sp>
      <p:sp>
        <p:nvSpPr>
          <p:cNvPr id="9" name="Shape 7"/>
          <p:cNvSpPr/>
          <p:nvPr/>
        </p:nvSpPr>
        <p:spPr>
          <a:xfrm>
            <a:off x="815975" y="2499916"/>
            <a:ext cx="5200650" cy="910431"/>
          </a:xfrm>
          <a:prstGeom prst="roundRect">
            <a:avLst>
              <a:gd name="adj" fmla="val 16391"/>
            </a:avLst>
          </a:prstGeom>
          <a:solidFill>
            <a:srgbClr val="FFFDF8"/>
          </a:solidFill>
          <a:ln w="6350">
            <a:solidFill>
              <a:srgbClr val="D9D3C2"/>
            </a:solidFill>
            <a:prstDash val="solid"/>
          </a:ln>
        </p:spPr>
        <p:txBody>
          <a:bodyPr/>
          <a:lstStyle/>
          <a:p>
            <a:endParaRPr lang="en-US"/>
          </a:p>
        </p:txBody>
      </p:sp>
      <p:sp>
        <p:nvSpPr>
          <p:cNvPr id="10" name="Text 8"/>
          <p:cNvSpPr/>
          <p:nvPr/>
        </p:nvSpPr>
        <p:spPr>
          <a:xfrm>
            <a:off x="1022350" y="275193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3</a:t>
            </a:r>
            <a:endParaRPr lang="en-US" sz="1600" dirty="0"/>
          </a:p>
        </p:txBody>
      </p:sp>
      <p:sp>
        <p:nvSpPr>
          <p:cNvPr id="11" name="Text 9"/>
          <p:cNvSpPr/>
          <p:nvPr/>
        </p:nvSpPr>
        <p:spPr>
          <a:xfrm>
            <a:off x="1581150" y="2680891"/>
            <a:ext cx="4355973" cy="57388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Number: regression. Category: classification. No label: clustering</a:t>
            </a:r>
            <a:endParaRPr lang="en-US" sz="1600" dirty="0"/>
          </a:p>
        </p:txBody>
      </p:sp>
      <p:sp>
        <p:nvSpPr>
          <p:cNvPr id="12" name="Shape 10"/>
          <p:cNvSpPr/>
          <p:nvPr/>
        </p:nvSpPr>
        <p:spPr>
          <a:xfrm>
            <a:off x="6175375" y="2499916"/>
            <a:ext cx="5200650" cy="910431"/>
          </a:xfrm>
          <a:prstGeom prst="roundRect">
            <a:avLst>
              <a:gd name="adj" fmla="val 16391"/>
            </a:avLst>
          </a:prstGeom>
          <a:solidFill>
            <a:srgbClr val="FFFDF8"/>
          </a:solidFill>
          <a:ln w="6350">
            <a:solidFill>
              <a:srgbClr val="D9D3C2"/>
            </a:solidFill>
            <a:prstDash val="solid"/>
          </a:ln>
        </p:spPr>
        <p:txBody>
          <a:bodyPr/>
          <a:lstStyle/>
          <a:p>
            <a:endParaRPr lang="en-US"/>
          </a:p>
        </p:txBody>
      </p:sp>
      <p:sp>
        <p:nvSpPr>
          <p:cNvPr id="13" name="Text 11"/>
          <p:cNvSpPr/>
          <p:nvPr/>
        </p:nvSpPr>
        <p:spPr>
          <a:xfrm>
            <a:off x="6381750" y="2751931"/>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4</a:t>
            </a:r>
            <a:endParaRPr lang="en-US" sz="1600" dirty="0"/>
          </a:p>
        </p:txBody>
      </p:sp>
      <p:sp>
        <p:nvSpPr>
          <p:cNvPr id="14" name="Text 12"/>
          <p:cNvSpPr/>
          <p:nvPr/>
        </p:nvSpPr>
        <p:spPr>
          <a:xfrm>
            <a:off x="6940550" y="2680891"/>
            <a:ext cx="4355973" cy="57388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Train, validate, test: never peek at the test set</a:t>
            </a:r>
            <a:endParaRPr lang="en-US" sz="1600" dirty="0"/>
          </a:p>
        </p:txBody>
      </p:sp>
      <p:sp>
        <p:nvSpPr>
          <p:cNvPr id="15" name="Shape 13"/>
          <p:cNvSpPr/>
          <p:nvPr/>
        </p:nvSpPr>
        <p:spPr>
          <a:xfrm>
            <a:off x="815975" y="3569097"/>
            <a:ext cx="5200650" cy="910431"/>
          </a:xfrm>
          <a:prstGeom prst="roundRect">
            <a:avLst>
              <a:gd name="adj" fmla="val 16391"/>
            </a:avLst>
          </a:prstGeom>
          <a:solidFill>
            <a:srgbClr val="FFFDF8"/>
          </a:solidFill>
          <a:ln w="6350">
            <a:solidFill>
              <a:srgbClr val="D9D3C2"/>
            </a:solidFill>
            <a:prstDash val="solid"/>
          </a:ln>
        </p:spPr>
        <p:txBody>
          <a:bodyPr/>
          <a:lstStyle/>
          <a:p>
            <a:endParaRPr lang="en-US"/>
          </a:p>
        </p:txBody>
      </p:sp>
      <p:sp>
        <p:nvSpPr>
          <p:cNvPr id="16" name="Text 14"/>
          <p:cNvSpPr/>
          <p:nvPr/>
        </p:nvSpPr>
        <p:spPr>
          <a:xfrm>
            <a:off x="1022350" y="3821113"/>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5</a:t>
            </a:r>
            <a:endParaRPr lang="en-US" sz="1600" dirty="0"/>
          </a:p>
        </p:txBody>
      </p:sp>
      <p:sp>
        <p:nvSpPr>
          <p:cNvPr id="17" name="Text 15"/>
          <p:cNvSpPr/>
          <p:nvPr/>
        </p:nvSpPr>
        <p:spPr>
          <a:xfrm>
            <a:off x="1581150" y="3887192"/>
            <a:ext cx="4432300" cy="29964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Overfitting is the enemy; aim to generalize</a:t>
            </a:r>
            <a:endParaRPr lang="en-US" sz="1600" dirty="0"/>
          </a:p>
        </p:txBody>
      </p:sp>
      <p:sp>
        <p:nvSpPr>
          <p:cNvPr id="18" name="Shape 16"/>
          <p:cNvSpPr/>
          <p:nvPr/>
        </p:nvSpPr>
        <p:spPr>
          <a:xfrm>
            <a:off x="6175375" y="3569097"/>
            <a:ext cx="5200650" cy="910431"/>
          </a:xfrm>
          <a:prstGeom prst="roundRect">
            <a:avLst>
              <a:gd name="adj" fmla="val 16391"/>
            </a:avLst>
          </a:prstGeom>
          <a:solidFill>
            <a:srgbClr val="FFFDF8"/>
          </a:solidFill>
          <a:ln w="6350">
            <a:solidFill>
              <a:srgbClr val="D9D3C2"/>
            </a:solidFill>
            <a:prstDash val="solid"/>
          </a:ln>
        </p:spPr>
        <p:txBody>
          <a:bodyPr/>
          <a:lstStyle/>
          <a:p>
            <a:endParaRPr lang="en-US"/>
          </a:p>
        </p:txBody>
      </p:sp>
      <p:sp>
        <p:nvSpPr>
          <p:cNvPr id="19" name="Text 17"/>
          <p:cNvSpPr/>
          <p:nvPr/>
        </p:nvSpPr>
        <p:spPr>
          <a:xfrm>
            <a:off x="6381750" y="3821113"/>
            <a:ext cx="406400" cy="406400"/>
          </a:xfrm>
          <a:custGeom>
            <a:avLst/>
            <a:gdLst/>
            <a:ahLst/>
            <a:cxnLst/>
            <a:rect l="l" t="t" r="r" b="b"/>
            <a:pathLst>
              <a:path w="406400" h="406400">
                <a:moveTo>
                  <a:pt x="203200" y="0"/>
                </a:moveTo>
                <a:lnTo>
                  <a:pt x="203200" y="0"/>
                </a:lnTo>
                <a:arcTo wR="203200" hR="203200" stAng="16200000" swAng="5400000"/>
                <a:lnTo>
                  <a:pt x="406400" y="203200"/>
                </a:lnTo>
                <a:arcTo wR="203200" hR="203200" stAng="0" swAng="5400000"/>
                <a:lnTo>
                  <a:pt x="203200" y="406400"/>
                </a:lnTo>
                <a:arcTo wR="203200" hR="203200" stAng="5400000" swAng="5400000"/>
                <a:lnTo>
                  <a:pt x="0" y="203200"/>
                </a:lnTo>
                <a:arcTo wR="203200" hR="203200" stAng="10800000" swAng="5400000"/>
                <a:close/>
              </a:path>
            </a:pathLst>
          </a:custGeom>
          <a:solidFill>
            <a:srgbClr val="2F5BEA"/>
          </a:solidFill>
          <a:ln/>
        </p:spPr>
        <p:txBody>
          <a:bodyPr wrap="square" lIns="0" tIns="0" rIns="0" bIns="0" rtlCol="0" anchor="t">
            <a:normAutofit/>
          </a:bodyPr>
          <a:lstStyle/>
          <a:p>
            <a:pPr marL="0" indent="0" algn="ctr">
              <a:lnSpc>
                <a:spcPts val="3200"/>
              </a:lnSpc>
              <a:buNone/>
            </a:pPr>
            <a:r>
              <a:rPr lang="en-US" sz="1600" b="1" dirty="0">
                <a:solidFill>
                  <a:srgbClr val="F5F2EA"/>
                </a:solidFill>
                <a:latin typeface="DM Sans" pitchFamily="34" charset="0"/>
                <a:ea typeface="DM Sans" pitchFamily="34" charset="-122"/>
                <a:cs typeface="DM Sans" pitchFamily="34" charset="-120"/>
              </a:rPr>
              <a:t>6</a:t>
            </a:r>
            <a:endParaRPr lang="en-US" sz="1600" dirty="0"/>
          </a:p>
        </p:txBody>
      </p:sp>
      <p:sp>
        <p:nvSpPr>
          <p:cNvPr id="20" name="Text 18"/>
          <p:cNvSpPr/>
          <p:nvPr/>
        </p:nvSpPr>
        <p:spPr>
          <a:xfrm>
            <a:off x="6940550" y="3750072"/>
            <a:ext cx="4355973" cy="573881"/>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14182B"/>
                </a:solidFill>
                <a:latin typeface="DM Sans" pitchFamily="34" charset="0"/>
                <a:ea typeface="DM Sans" pitchFamily="34" charset="-122"/>
                <a:cs typeface="DM Sans" pitchFamily="34" charset="-120"/>
              </a:rPr>
              <a:t>kNN: the k closest examples vote. Scale your features</a:t>
            </a:r>
            <a:endParaRPr lang="en-US" sz="1600" dirty="0"/>
          </a:p>
        </p:txBody>
      </p:sp>
      <p:sp>
        <p:nvSpPr>
          <p:cNvPr id="21" name="Text 19"/>
          <p:cNvSpPr/>
          <p:nvPr/>
        </p:nvSpPr>
        <p:spPr>
          <a:xfrm>
            <a:off x="812800" y="4736703"/>
            <a:ext cx="1088339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2F5BEA"/>
                </a:solidFill>
                <a:latin typeface="DM Sans" pitchFamily="34" charset="0"/>
                <a:ea typeface="DM Sans" pitchFamily="34" charset="-122"/>
                <a:cs typeface="DM Sans" pitchFamily="34" charset="-120"/>
              </a:rPr>
              <a:t>Questions?</a:t>
            </a:r>
            <a:endParaRPr lang="en-US" sz="2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478"/>
                </a:solidFill>
                <a:latin typeface="DM Sans" pitchFamily="34" charset="0"/>
                <a:ea typeface="DM Sans" pitchFamily="34" charset="-122"/>
                <a:cs typeface="DM Sans" pitchFamily="34" charset="-120"/>
              </a:rPr>
              <a:t>Your model is only as good as your data: garbage in, garbage out</a:t>
            </a:r>
            <a:endParaRPr lang="en-US" sz="1200" dirty="0"/>
          </a:p>
        </p:txBody>
      </p:sp>
    </p:spTree>
  </p:cSld>
  <p:clrMapOvr>
    <a:masterClrMapping/>
  </p:clrMapOvr>
</p:sld>
</file>

<file path=ppt/theme/theme1.xml><?xml version="1.0" encoding="utf-8"?>
<a:theme xmlns:a="http://schemas.openxmlformats.org/drawingml/2006/main" name="Introduction to Machine Learning">
  <a:themeElements>
    <a:clrScheme name="Introduction to Machine Learning">
      <a:dk1>
        <a:srgbClr val="14182B"/>
      </a:dk1>
      <a:lt1>
        <a:srgbClr val="F5F2EA"/>
      </a:lt1>
      <a:dk2>
        <a:srgbClr val="4C4F5B"/>
      </a:dk2>
      <a:lt2>
        <a:srgbClr val="DFDCD7"/>
      </a:lt2>
      <a:accent1>
        <a:srgbClr val="2F5BEA"/>
      </a:accent1>
      <a:accent2>
        <a:srgbClr val="C2410C"/>
      </a:accent2>
      <a:accent3>
        <a:srgbClr val="FF9A5C"/>
      </a:accent3>
      <a:accent4>
        <a:srgbClr val="4A4F63"/>
      </a:accent4>
      <a:accent5>
        <a:srgbClr val="5F6478"/>
      </a:accent5>
      <a:accent6>
        <a:srgbClr val="262C47"/>
      </a:accent6>
      <a:hlink>
        <a:srgbClr val="0563C1"/>
      </a:hlink>
      <a:folHlink>
        <a:srgbClr val="954F72"/>
      </a:folHlink>
    </a:clrScheme>
    <a:fontScheme name="Introduction to Machine Learnin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3926</Words>
  <Application>Microsoft Office PowerPoint</Application>
  <PresentationFormat>Widescreen</PresentationFormat>
  <Paragraphs>307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DM Sans</vt:lpstr>
      <vt:lpstr>JetBrains Mono</vt:lpstr>
      <vt:lpstr>Introduction to Machine Learning</vt:lpstr>
      <vt:lpstr>CS-412  Machine Learning</vt:lpstr>
      <vt:lpstr>How would you write the rules for “this is a cat”?</vt:lpstr>
      <vt:lpstr>Machine learning, defined</vt:lpstr>
      <vt:lpstr>Programming vs. machine learning</vt:lpstr>
      <vt:lpstr>ML you already use</vt:lpstr>
      <vt:lpstr>Why we need machine learning</vt:lpstr>
      <vt:lpstr>Three ways to learn</vt:lpstr>
      <vt:lpstr>Anatomy of a dataset</vt:lpstr>
      <vt:lpstr>An image is a list of numbers</vt:lpstr>
      <vt:lpstr>Three kinds of problems</vt:lpstr>
      <vt:lpstr>Learning and inference</vt:lpstr>
      <vt:lpstr>Measuring error</vt:lpstr>
      <vt:lpstr>Do well on data the model has never seen.</vt:lpstr>
      <vt:lpstr>Splitting the data</vt:lpstr>
      <vt:lpstr>Underfitting and overfitting</vt:lpstr>
      <vt:lpstr>Finding the sweet spot</vt:lpstr>
      <vt:lpstr>Learning by similarity</vt:lpstr>
      <vt:lpstr>k-Nearest Neighbors</vt:lpstr>
      <vt:lpstr>Measuring closeness</vt:lpstr>
      <vt:lpstr>kNN: choices and caveats</vt:lpstr>
      <vt:lpstr>k-NN Coding</vt:lpstr>
      <vt:lpstr>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subject/>
  <dc:creator/>
  <cp:lastModifiedBy>Bedirhan Kırtan (Student)</cp:lastModifiedBy>
  <cp:revision>2</cp:revision>
  <dcterms:created xsi:type="dcterms:W3CDTF">2026-10-15T21:14:11Z</dcterms:created>
  <dcterms:modified xsi:type="dcterms:W3CDTF">2026-10-16T06:41:37Z</dcterms:modified>
</cp:coreProperties>
</file>